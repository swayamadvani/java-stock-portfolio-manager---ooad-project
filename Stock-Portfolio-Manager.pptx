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MuseoModerno Medium"/>
      <p:regular r:id="rId17"/>
    </p:embeddedFont>
    <p:embeddedFont>
      <p:font typeface="MuseoModerno Medium"/>
      <p:regular r:id="rId18"/>
    </p:embeddedFont>
    <p:embeddedFont>
      <p:font typeface="MuseoModerno Medium"/>
      <p:regular r:id="rId19"/>
    </p:embeddedFont>
    <p:embeddedFont>
      <p:font typeface="MuseoModerno Medium"/>
      <p:regular r:id="rId20"/>
    </p:embeddedFont>
    <p:embeddedFont>
      <p:font typeface="Source Sans 3"/>
      <p:regular r:id="rId21"/>
    </p:embeddedFont>
    <p:embeddedFont>
      <p:font typeface="Source Sans 3"/>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slideLayout" Target="../slideLayouts/slideLayout5.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image" Target="../media/image-5-8.png"/><Relationship Id="rId9" Type="http://schemas.openxmlformats.org/officeDocument/2006/relationships/image" Target="../media/image-5-9.svg"/><Relationship Id="rId10" Type="http://schemas.openxmlformats.org/officeDocument/2006/relationships/slideLayout" Target="../slideLayouts/slideLayout6.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slideLayout" Target="../slideLayouts/slideLayout7.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9.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slideLayout" Target="../slideLayouts/slideLayout10.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486400" cy="8229600"/>
          </a:xfrm>
          <a:prstGeom prst="rect">
            <a:avLst/>
          </a:prstGeom>
          <a:solidFill>
            <a:srgbClr val="F3EEE3"/>
          </a:solidFill>
          <a:ln/>
        </p:spPr>
      </p:sp>
      <p:pic>
        <p:nvPicPr>
          <p:cNvPr id="3" name="Image 0" descr="preencoded.png">    </p:cNvPr>
          <p:cNvPicPr>
            <a:picLocks noChangeAspect="1"/>
          </p:cNvPicPr>
          <p:nvPr/>
        </p:nvPicPr>
        <p:blipFill>
          <a:blip r:embed="rId1"/>
          <a:stretch>
            <a:fillRect/>
          </a:stretch>
        </p:blipFill>
        <p:spPr>
          <a:xfrm>
            <a:off x="99179" y="148709"/>
            <a:ext cx="5288042" cy="7932063"/>
          </a:xfrm>
          <a:prstGeom prst="rect">
            <a:avLst/>
          </a:prstGeom>
        </p:spPr>
      </p:pic>
      <p:sp>
        <p:nvSpPr>
          <p:cNvPr id="4" name="Text 1"/>
          <p:cNvSpPr/>
          <p:nvPr/>
        </p:nvSpPr>
        <p:spPr>
          <a:xfrm>
            <a:off x="6280190" y="2602825"/>
            <a:ext cx="5885259" cy="620078"/>
          </a:xfrm>
          <a:prstGeom prst="rect">
            <a:avLst/>
          </a:prstGeom>
          <a:noFill/>
          <a:ln/>
        </p:spPr>
        <p:txBody>
          <a:bodyPr wrap="none" lIns="0" tIns="0" rIns="0" bIns="0" rtlCol="0" anchor="t"/>
          <a:lstStyle/>
          <a:p>
            <a:pPr algn="l" indent="0" marL="0">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Stock Portfolio Manager</a:t>
            </a:r>
            <a:endParaRPr lang="en-US" sz="3900" dirty="0"/>
          </a:p>
        </p:txBody>
      </p:sp>
      <p:sp>
        <p:nvSpPr>
          <p:cNvPr id="5" name="Text 2"/>
          <p:cNvSpPr/>
          <p:nvPr/>
        </p:nvSpPr>
        <p:spPr>
          <a:xfrm>
            <a:off x="6280190" y="3302198"/>
            <a:ext cx="5290542" cy="310158"/>
          </a:xfrm>
          <a:prstGeom prst="rect">
            <a:avLst/>
          </a:prstGeom>
          <a:noFill/>
          <a:ln/>
        </p:spPr>
        <p:txBody>
          <a:bodyPr wrap="none" lIns="0" tIns="0" rIns="0" bIns="0" rtlCol="0" anchor="t"/>
          <a:lstStyle/>
          <a:p>
            <a:pPr algn="l" indent="0" marL="0">
              <a:lnSpc>
                <a:spcPts val="2400"/>
              </a:lnSpc>
              <a:buNone/>
            </a:pPr>
            <a:r>
              <a:rPr lang="en-US" sz="1950" dirty="0">
                <a:solidFill>
                  <a:srgbClr val="124E73"/>
                </a:solidFill>
                <a:latin typeface="MuseoModerno Medium" pitchFamily="34" charset="0"/>
                <a:ea typeface="MuseoModerno Medium" pitchFamily="34" charset="-122"/>
                <a:cs typeface="MuseoModerno Medium" pitchFamily="34" charset="-120"/>
              </a:rPr>
              <a:t>Object-Oriented Analysis and Design Project</a:t>
            </a:r>
            <a:endParaRPr lang="en-US" sz="1950" dirty="0"/>
          </a:p>
        </p:txBody>
      </p:sp>
      <p:sp>
        <p:nvSpPr>
          <p:cNvPr id="6" name="Text 3"/>
          <p:cNvSpPr/>
          <p:nvPr/>
        </p:nvSpPr>
        <p:spPr>
          <a:xfrm>
            <a:off x="6280190" y="3910013"/>
            <a:ext cx="7556421" cy="63507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An object-oriented Java implementation demonstrating design patterns through stock portfolio simulation</a:t>
            </a:r>
            <a:endParaRPr lang="en-US" sz="1550" dirty="0"/>
          </a:p>
        </p:txBody>
      </p:sp>
      <p:sp>
        <p:nvSpPr>
          <p:cNvPr id="7" name="Text 4"/>
          <p:cNvSpPr/>
          <p:nvPr/>
        </p:nvSpPr>
        <p:spPr>
          <a:xfrm>
            <a:off x="6280190" y="4768334"/>
            <a:ext cx="7556421" cy="317540"/>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SWAYAM ADVANI </a:t>
            </a:r>
            <a:endParaRPr lang="en-US" sz="1550" dirty="0"/>
          </a:p>
        </p:txBody>
      </p:sp>
      <p:sp>
        <p:nvSpPr>
          <p:cNvPr id="8" name="Text 5"/>
          <p:cNvSpPr/>
          <p:nvPr/>
        </p:nvSpPr>
        <p:spPr>
          <a:xfrm>
            <a:off x="6280190" y="5309116"/>
            <a:ext cx="7556421" cy="317540"/>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THARUN MS </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477923"/>
            <a:ext cx="9278779" cy="620078"/>
          </a:xfrm>
          <a:prstGeom prst="rect">
            <a:avLst/>
          </a:prstGeom>
          <a:noFill/>
          <a:ln/>
        </p:spPr>
        <p:txBody>
          <a:bodyPr wrap="none" lIns="0" tIns="0" rIns="0" bIns="0" rtlCol="0" anchor="t"/>
          <a:lstStyle/>
          <a:p>
            <a:pPr algn="l" indent="0" marL="0">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Problem Statement &amp; Project Objective</a:t>
            </a:r>
            <a:endParaRPr lang="en-US" sz="3900" dirty="0"/>
          </a:p>
        </p:txBody>
      </p:sp>
      <p:sp>
        <p:nvSpPr>
          <p:cNvPr id="3" name="Text 1"/>
          <p:cNvSpPr/>
          <p:nvPr/>
        </p:nvSpPr>
        <p:spPr>
          <a:xfrm>
            <a:off x="793790" y="2594015"/>
            <a:ext cx="6279356" cy="744141"/>
          </a:xfrm>
          <a:prstGeom prst="rect">
            <a:avLst/>
          </a:prstGeom>
          <a:noFill/>
          <a:ln/>
        </p:spPr>
        <p:txBody>
          <a:bodyPr wrap="square" lIns="0" tIns="0" rIns="0" bIns="0" rtlCol="0" anchor="t"/>
          <a:lstStyle/>
          <a:p>
            <a:pPr algn="l" indent="0" marL="0">
              <a:lnSpc>
                <a:spcPts val="2900"/>
              </a:lnSpc>
              <a:buNone/>
            </a:pPr>
            <a:r>
              <a:rPr lang="en-US" sz="2300" dirty="0">
                <a:solidFill>
                  <a:srgbClr val="124E73"/>
                </a:solidFill>
                <a:latin typeface="MuseoModerno Medium" pitchFamily="34" charset="0"/>
                <a:ea typeface="MuseoModerno Medium" pitchFamily="34" charset="-122"/>
                <a:cs typeface="MuseoModerno Medium" pitchFamily="34" charset="-120"/>
              </a:rPr>
              <a:t>Challenges in Manual Portfolio Management</a:t>
            </a:r>
            <a:endParaRPr lang="en-US" sz="2300" dirty="0"/>
          </a:p>
        </p:txBody>
      </p:sp>
      <p:sp>
        <p:nvSpPr>
          <p:cNvPr id="4" name="Text 2"/>
          <p:cNvSpPr/>
          <p:nvPr/>
        </p:nvSpPr>
        <p:spPr>
          <a:xfrm>
            <a:off x="793790" y="3536513"/>
            <a:ext cx="6279356" cy="1905238"/>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Managing stock portfolios manually presents significant challenges for investors. Tracking multiple stocks across different exchanges requires constant monitoring of price movements, executing trades at optimal times, and maintaining accurate records of transactions. Manual systems are prone to calculation errors, missed opportunities due to delayed price updates, and difficulty in analyzing historical performance.</a:t>
            </a:r>
            <a:endParaRPr lang="en-US" sz="1550" dirty="0"/>
          </a:p>
        </p:txBody>
      </p:sp>
      <p:sp>
        <p:nvSpPr>
          <p:cNvPr id="5" name="Text 3"/>
          <p:cNvSpPr/>
          <p:nvPr/>
        </p:nvSpPr>
        <p:spPr>
          <a:xfrm>
            <a:off x="793790" y="5620345"/>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The complexity increases exponentially with portfolio size, making it impractical to maintain comprehensive records or generate meaningful performance reports without automated assistance.</a:t>
            </a:r>
            <a:endParaRPr lang="en-US" sz="1550" dirty="0"/>
          </a:p>
        </p:txBody>
      </p:sp>
      <p:sp>
        <p:nvSpPr>
          <p:cNvPr id="6" name="Text 4"/>
          <p:cNvSpPr/>
          <p:nvPr/>
        </p:nvSpPr>
        <p:spPr>
          <a:xfrm>
            <a:off x="7564874" y="2594015"/>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124E73"/>
                </a:solidFill>
                <a:latin typeface="MuseoModerno Medium" pitchFamily="34" charset="0"/>
                <a:ea typeface="MuseoModerno Medium" pitchFamily="34" charset="-122"/>
                <a:cs typeface="MuseoModerno Medium" pitchFamily="34" charset="-120"/>
              </a:rPr>
              <a:t>Project Objective</a:t>
            </a:r>
            <a:endParaRPr lang="en-US" sz="2300" dirty="0"/>
          </a:p>
        </p:txBody>
      </p:sp>
      <p:sp>
        <p:nvSpPr>
          <p:cNvPr id="7" name="Text 5"/>
          <p:cNvSpPr/>
          <p:nvPr/>
        </p:nvSpPr>
        <p:spPr>
          <a:xfrm>
            <a:off x="7564874" y="3164443"/>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This project aims to address these challenges through a console-based simulation system that applies object-oriented programming principles and design patterns to create a realistic stock market environment.</a:t>
            </a:r>
            <a:endParaRPr lang="en-US" sz="1550" dirty="0"/>
          </a:p>
        </p:txBody>
      </p:sp>
      <p:sp>
        <p:nvSpPr>
          <p:cNvPr id="8" name="Text 6"/>
          <p:cNvSpPr/>
          <p:nvPr/>
        </p:nvSpPr>
        <p:spPr>
          <a:xfrm>
            <a:off x="7564874" y="4295656"/>
            <a:ext cx="6279356" cy="1587698"/>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The system simulates National Stock Exchange (NSE) trading operations, allowing users to buy and sell stocks while tracking portfolio performance in real-time. By implementing this system, we demonstrate practical application of OOP concepts including encapsulation, inheritance, polymorphism, and composition.</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486400" cy="8229600"/>
          </a:xfrm>
          <a:prstGeom prst="rect">
            <a:avLst/>
          </a:prstGeom>
          <a:solidFill>
            <a:srgbClr val="F3EEE3"/>
          </a:solidFill>
          <a:ln/>
        </p:spPr>
      </p:sp>
      <p:pic>
        <p:nvPicPr>
          <p:cNvPr id="3" name="Image 0" descr="preencoded.png">    </p:cNvPr>
          <p:cNvPicPr>
            <a:picLocks noChangeAspect="1"/>
          </p:cNvPicPr>
          <p:nvPr/>
        </p:nvPicPr>
        <p:blipFill>
          <a:blip r:embed="rId1"/>
          <a:stretch>
            <a:fillRect/>
          </a:stretch>
        </p:blipFill>
        <p:spPr>
          <a:xfrm>
            <a:off x="96083" y="144066"/>
            <a:ext cx="5294233" cy="7941350"/>
          </a:xfrm>
          <a:prstGeom prst="rect">
            <a:avLst/>
          </a:prstGeom>
        </p:spPr>
      </p:pic>
      <p:sp>
        <p:nvSpPr>
          <p:cNvPr id="4" name="Text 1"/>
          <p:cNvSpPr/>
          <p:nvPr/>
        </p:nvSpPr>
        <p:spPr>
          <a:xfrm>
            <a:off x="6255425" y="555069"/>
            <a:ext cx="4806791" cy="600789"/>
          </a:xfrm>
          <a:prstGeom prst="rect">
            <a:avLst/>
          </a:prstGeom>
          <a:noFill/>
          <a:ln/>
        </p:spPr>
        <p:txBody>
          <a:bodyPr wrap="none" lIns="0" tIns="0" rIns="0" bIns="0" rtlCol="0" anchor="t"/>
          <a:lstStyle/>
          <a:p>
            <a:pPr algn="l" indent="0" marL="0">
              <a:lnSpc>
                <a:spcPts val="4700"/>
              </a:lnSpc>
              <a:buNone/>
            </a:pPr>
            <a:r>
              <a:rPr lang="en-US" sz="3750" dirty="0">
                <a:solidFill>
                  <a:srgbClr val="124E73"/>
                </a:solidFill>
                <a:latin typeface="MuseoModerno Medium" pitchFamily="34" charset="0"/>
                <a:ea typeface="MuseoModerno Medium" pitchFamily="34" charset="-122"/>
                <a:cs typeface="MuseoModerno Medium" pitchFamily="34" charset="-120"/>
              </a:rPr>
              <a:t>Project Overview</a:t>
            </a:r>
            <a:endParaRPr lang="en-US" sz="3750" dirty="0"/>
          </a:p>
        </p:txBody>
      </p:sp>
      <p:sp>
        <p:nvSpPr>
          <p:cNvPr id="5" name="Shape 2"/>
          <p:cNvSpPr/>
          <p:nvPr/>
        </p:nvSpPr>
        <p:spPr>
          <a:xfrm>
            <a:off x="6255425" y="1435179"/>
            <a:ext cx="3709868" cy="2467689"/>
          </a:xfrm>
          <a:prstGeom prst="roundRect">
            <a:avLst>
              <a:gd name="adj" fmla="val 1169"/>
            </a:avLst>
          </a:prstGeom>
          <a:solidFill>
            <a:srgbClr val="F3EEE3"/>
          </a:solidFill>
          <a:ln/>
        </p:spPr>
      </p:sp>
      <p:sp>
        <p:nvSpPr>
          <p:cNvPr id="6" name="Shape 3"/>
          <p:cNvSpPr/>
          <p:nvPr/>
        </p:nvSpPr>
        <p:spPr>
          <a:xfrm>
            <a:off x="6447592" y="1627346"/>
            <a:ext cx="576739" cy="576739"/>
          </a:xfrm>
          <a:prstGeom prst="roundRect">
            <a:avLst>
              <a:gd name="adj" fmla="val 15853073"/>
            </a:avLst>
          </a:prstGeom>
          <a:solidFill>
            <a:srgbClr val="325F7B"/>
          </a:solidFill>
          <a:ln/>
        </p:spPr>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06183" y="1785818"/>
            <a:ext cx="259556" cy="259556"/>
          </a:xfrm>
          <a:prstGeom prst="rect">
            <a:avLst/>
          </a:prstGeom>
        </p:spPr>
      </p:pic>
      <p:sp>
        <p:nvSpPr>
          <p:cNvPr id="8" name="Text 4"/>
          <p:cNvSpPr/>
          <p:nvPr/>
        </p:nvSpPr>
        <p:spPr>
          <a:xfrm>
            <a:off x="6447592" y="2390299"/>
            <a:ext cx="2678549" cy="300395"/>
          </a:xfrm>
          <a:prstGeom prst="rect">
            <a:avLst/>
          </a:prstGeom>
          <a:noFill/>
          <a:ln/>
        </p:spPr>
        <p:txBody>
          <a:bodyPr wrap="none" lIns="0" tIns="0" rIns="0" bIns="0" rtlCol="0" anchor="t"/>
          <a:lstStyle/>
          <a:p>
            <a:pPr algn="l" indent="0" marL="0">
              <a:lnSpc>
                <a:spcPts val="2350"/>
              </a:lnSpc>
              <a:buNone/>
            </a:pPr>
            <a:r>
              <a:rPr lang="en-US" sz="1850" dirty="0">
                <a:solidFill>
                  <a:srgbClr val="2B4150"/>
                </a:solidFill>
                <a:latin typeface="MuseoModerno Medium" pitchFamily="34" charset="0"/>
                <a:ea typeface="MuseoModerno Medium" pitchFamily="34" charset="-122"/>
                <a:cs typeface="MuseoModerno Medium" pitchFamily="34" charset="-120"/>
              </a:rPr>
              <a:t>Console-Based System</a:t>
            </a:r>
            <a:endParaRPr lang="en-US" sz="1850" dirty="0"/>
          </a:p>
        </p:txBody>
      </p:sp>
      <p:sp>
        <p:nvSpPr>
          <p:cNvPr id="9" name="Text 5"/>
          <p:cNvSpPr/>
          <p:nvPr/>
        </p:nvSpPr>
        <p:spPr>
          <a:xfrm>
            <a:off x="6447592" y="2802374"/>
            <a:ext cx="3325535" cy="908328"/>
          </a:xfrm>
          <a:prstGeom prst="rect">
            <a:avLst/>
          </a:prstGeom>
          <a:noFill/>
          <a:ln/>
        </p:spPr>
        <p:txBody>
          <a:bodyPr wrap="square" lIns="0" tIns="0" rIns="0" bIns="0" rtlCol="0" anchor="t"/>
          <a:lstStyle/>
          <a:p>
            <a:pPr algn="l" indent="0" marL="0">
              <a:lnSpc>
                <a:spcPts val="2350"/>
              </a:lnSpc>
              <a:buNone/>
            </a:pPr>
            <a:r>
              <a:rPr lang="en-US" sz="1500" dirty="0">
                <a:solidFill>
                  <a:srgbClr val="2B4150"/>
                </a:solidFill>
                <a:latin typeface="Source Sans 3" pitchFamily="34" charset="0"/>
                <a:ea typeface="Source Sans 3" pitchFamily="34" charset="-122"/>
                <a:cs typeface="Source Sans 3" pitchFamily="34" charset="-120"/>
              </a:rPr>
              <a:t>Command-line interface providing efficient portfolio management operations</a:t>
            </a:r>
            <a:endParaRPr lang="en-US" sz="1500" dirty="0"/>
          </a:p>
        </p:txBody>
      </p:sp>
      <p:sp>
        <p:nvSpPr>
          <p:cNvPr id="10" name="Shape 6"/>
          <p:cNvSpPr/>
          <p:nvPr/>
        </p:nvSpPr>
        <p:spPr>
          <a:xfrm>
            <a:off x="10151507" y="1435179"/>
            <a:ext cx="3709868" cy="2467689"/>
          </a:xfrm>
          <a:prstGeom prst="roundRect">
            <a:avLst>
              <a:gd name="adj" fmla="val 1169"/>
            </a:avLst>
          </a:prstGeom>
          <a:solidFill>
            <a:srgbClr val="F3EEE3"/>
          </a:solidFill>
          <a:ln/>
        </p:spPr>
      </p:sp>
      <p:sp>
        <p:nvSpPr>
          <p:cNvPr id="11" name="Shape 7"/>
          <p:cNvSpPr/>
          <p:nvPr/>
        </p:nvSpPr>
        <p:spPr>
          <a:xfrm>
            <a:off x="10343674" y="1627346"/>
            <a:ext cx="576739" cy="576739"/>
          </a:xfrm>
          <a:prstGeom prst="roundRect">
            <a:avLst>
              <a:gd name="adj" fmla="val 15853073"/>
            </a:avLst>
          </a:prstGeom>
          <a:solidFill>
            <a:srgbClr val="325F7B"/>
          </a:solidFill>
          <a:ln/>
        </p:spPr>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02265" y="1785818"/>
            <a:ext cx="259556" cy="259556"/>
          </a:xfrm>
          <a:prstGeom prst="rect">
            <a:avLst/>
          </a:prstGeom>
        </p:spPr>
      </p:pic>
      <p:sp>
        <p:nvSpPr>
          <p:cNvPr id="13" name="Text 8"/>
          <p:cNvSpPr/>
          <p:nvPr/>
        </p:nvSpPr>
        <p:spPr>
          <a:xfrm>
            <a:off x="10343674" y="2390299"/>
            <a:ext cx="2403396" cy="300395"/>
          </a:xfrm>
          <a:prstGeom prst="rect">
            <a:avLst/>
          </a:prstGeom>
          <a:noFill/>
          <a:ln/>
        </p:spPr>
        <p:txBody>
          <a:bodyPr wrap="none" lIns="0" tIns="0" rIns="0" bIns="0" rtlCol="0" anchor="t"/>
          <a:lstStyle/>
          <a:p>
            <a:pPr algn="l" indent="0" marL="0">
              <a:lnSpc>
                <a:spcPts val="2350"/>
              </a:lnSpc>
              <a:buNone/>
            </a:pPr>
            <a:r>
              <a:rPr lang="en-US" sz="1850" dirty="0">
                <a:solidFill>
                  <a:srgbClr val="2B4150"/>
                </a:solidFill>
                <a:latin typeface="MuseoModerno Medium" pitchFamily="34" charset="0"/>
                <a:ea typeface="MuseoModerno Medium" pitchFamily="34" charset="-122"/>
                <a:cs typeface="MuseoModerno Medium" pitchFamily="34" charset="-120"/>
              </a:rPr>
              <a:t>NSE Simulation</a:t>
            </a:r>
            <a:endParaRPr lang="en-US" sz="1850" dirty="0"/>
          </a:p>
        </p:txBody>
      </p:sp>
      <p:sp>
        <p:nvSpPr>
          <p:cNvPr id="14" name="Text 9"/>
          <p:cNvSpPr/>
          <p:nvPr/>
        </p:nvSpPr>
        <p:spPr>
          <a:xfrm>
            <a:off x="10343674" y="2802374"/>
            <a:ext cx="3325535" cy="908328"/>
          </a:xfrm>
          <a:prstGeom prst="rect">
            <a:avLst/>
          </a:prstGeom>
          <a:noFill/>
          <a:ln/>
        </p:spPr>
        <p:txBody>
          <a:bodyPr wrap="square" lIns="0" tIns="0" rIns="0" bIns="0" rtlCol="0" anchor="t"/>
          <a:lstStyle/>
          <a:p>
            <a:pPr algn="l" indent="0" marL="0">
              <a:lnSpc>
                <a:spcPts val="2350"/>
              </a:lnSpc>
              <a:buNone/>
            </a:pPr>
            <a:r>
              <a:rPr lang="en-US" sz="1500" dirty="0">
                <a:solidFill>
                  <a:srgbClr val="2B4150"/>
                </a:solidFill>
                <a:latin typeface="Source Sans 3" pitchFamily="34" charset="0"/>
                <a:ea typeface="Source Sans 3" pitchFamily="34" charset="-122"/>
                <a:cs typeface="Source Sans 3" pitchFamily="34" charset="-120"/>
              </a:rPr>
              <a:t>Realistic simulation of National Stock Exchange market conditions and price movements</a:t>
            </a:r>
            <a:endParaRPr lang="en-US" sz="1500" dirty="0"/>
          </a:p>
        </p:txBody>
      </p:sp>
      <p:sp>
        <p:nvSpPr>
          <p:cNvPr id="15" name="Shape 10"/>
          <p:cNvSpPr/>
          <p:nvPr/>
        </p:nvSpPr>
        <p:spPr>
          <a:xfrm>
            <a:off x="6255425" y="4089083"/>
            <a:ext cx="7605951" cy="1862138"/>
          </a:xfrm>
          <a:prstGeom prst="roundRect">
            <a:avLst>
              <a:gd name="adj" fmla="val 1549"/>
            </a:avLst>
          </a:prstGeom>
          <a:solidFill>
            <a:srgbClr val="F3EEE3"/>
          </a:solidFill>
          <a:ln/>
        </p:spPr>
      </p:sp>
      <p:sp>
        <p:nvSpPr>
          <p:cNvPr id="16" name="Shape 11"/>
          <p:cNvSpPr/>
          <p:nvPr/>
        </p:nvSpPr>
        <p:spPr>
          <a:xfrm>
            <a:off x="6447592" y="4281249"/>
            <a:ext cx="576739" cy="576739"/>
          </a:xfrm>
          <a:prstGeom prst="roundRect">
            <a:avLst>
              <a:gd name="adj" fmla="val 15853073"/>
            </a:avLst>
          </a:prstGeom>
          <a:solidFill>
            <a:srgbClr val="325F7B"/>
          </a:solidFill>
          <a:ln/>
        </p:spPr>
      </p:sp>
      <p:pic>
        <p:nvPicPr>
          <p:cNvPr id="1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06183" y="4439722"/>
            <a:ext cx="259556" cy="259556"/>
          </a:xfrm>
          <a:prstGeom prst="rect">
            <a:avLst/>
          </a:prstGeom>
        </p:spPr>
      </p:pic>
      <p:sp>
        <p:nvSpPr>
          <p:cNvPr id="18" name="Text 12"/>
          <p:cNvSpPr/>
          <p:nvPr/>
        </p:nvSpPr>
        <p:spPr>
          <a:xfrm>
            <a:off x="6447592" y="5044202"/>
            <a:ext cx="2403396" cy="300395"/>
          </a:xfrm>
          <a:prstGeom prst="rect">
            <a:avLst/>
          </a:prstGeom>
          <a:noFill/>
          <a:ln/>
        </p:spPr>
        <p:txBody>
          <a:bodyPr wrap="none" lIns="0" tIns="0" rIns="0" bIns="0" rtlCol="0" anchor="t"/>
          <a:lstStyle/>
          <a:p>
            <a:pPr algn="l" indent="0" marL="0">
              <a:lnSpc>
                <a:spcPts val="2350"/>
              </a:lnSpc>
              <a:buNone/>
            </a:pPr>
            <a:r>
              <a:rPr lang="en-US" sz="1850" dirty="0">
                <a:solidFill>
                  <a:srgbClr val="2B4150"/>
                </a:solidFill>
                <a:latin typeface="MuseoModerno Medium" pitchFamily="34" charset="0"/>
                <a:ea typeface="MuseoModerno Medium" pitchFamily="34" charset="-122"/>
                <a:cs typeface="MuseoModerno Medium" pitchFamily="34" charset="-120"/>
              </a:rPr>
              <a:t>Modular Design</a:t>
            </a:r>
            <a:endParaRPr lang="en-US" sz="1850" dirty="0"/>
          </a:p>
        </p:txBody>
      </p:sp>
      <p:sp>
        <p:nvSpPr>
          <p:cNvPr id="19" name="Text 13"/>
          <p:cNvSpPr/>
          <p:nvPr/>
        </p:nvSpPr>
        <p:spPr>
          <a:xfrm>
            <a:off x="6447592" y="5456277"/>
            <a:ext cx="7221617" cy="302776"/>
          </a:xfrm>
          <a:prstGeom prst="rect">
            <a:avLst/>
          </a:prstGeom>
          <a:noFill/>
          <a:ln/>
        </p:spPr>
        <p:txBody>
          <a:bodyPr wrap="none" lIns="0" tIns="0" rIns="0" bIns="0" rtlCol="0" anchor="t"/>
          <a:lstStyle/>
          <a:p>
            <a:pPr algn="l" indent="0" marL="0">
              <a:lnSpc>
                <a:spcPts val="2350"/>
              </a:lnSpc>
              <a:buNone/>
            </a:pPr>
            <a:r>
              <a:rPr lang="en-US" sz="1500" dirty="0">
                <a:solidFill>
                  <a:srgbClr val="2B4150"/>
                </a:solidFill>
                <a:latin typeface="Source Sans 3" pitchFamily="34" charset="0"/>
                <a:ea typeface="Source Sans 3" pitchFamily="34" charset="-122"/>
                <a:cs typeface="Source Sans 3" pitchFamily="34" charset="-120"/>
              </a:rPr>
              <a:t>Object-oriented architecture ensuring scalability and maintainability</a:t>
            </a:r>
            <a:endParaRPr lang="en-US" sz="1500" dirty="0"/>
          </a:p>
        </p:txBody>
      </p:sp>
      <p:sp>
        <p:nvSpPr>
          <p:cNvPr id="20" name="Text 14"/>
          <p:cNvSpPr/>
          <p:nvPr/>
        </p:nvSpPr>
        <p:spPr>
          <a:xfrm>
            <a:off x="6255425" y="6160651"/>
            <a:ext cx="7605951" cy="1513880"/>
          </a:xfrm>
          <a:prstGeom prst="rect">
            <a:avLst/>
          </a:prstGeom>
          <a:noFill/>
          <a:ln/>
        </p:spPr>
        <p:txBody>
          <a:bodyPr wrap="square" lIns="0" tIns="0" rIns="0" bIns="0" rtlCol="0" anchor="t"/>
          <a:lstStyle/>
          <a:p>
            <a:pPr algn="l" indent="0" marL="0">
              <a:lnSpc>
                <a:spcPts val="2350"/>
              </a:lnSpc>
              <a:buNone/>
            </a:pPr>
            <a:r>
              <a:rPr lang="en-US" sz="1500" dirty="0">
                <a:solidFill>
                  <a:srgbClr val="2B4150"/>
                </a:solidFill>
                <a:latin typeface="Source Sans 3" pitchFamily="34" charset="0"/>
                <a:ea typeface="Source Sans 3" pitchFamily="34" charset="-122"/>
                <a:cs typeface="Source Sans 3" pitchFamily="34" charset="-120"/>
              </a:rPr>
              <a:t>The Stock Portfolio Manager is a comprehensive console-based application that simulates real-world stock trading operations. The system provides investors with tools to track market prices, execute trades, monitor portfolio performance, and generate detailed reports. Built with Java's object-oriented paradigm, the application demonstrates how design patterns can create flexible, maintainable systems that mirror real-world financial operations.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123117"/>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Key Features</a:t>
            </a:r>
            <a:endParaRPr lang="en-US" sz="39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2140029"/>
            <a:ext cx="496133" cy="496133"/>
          </a:xfrm>
          <a:prstGeom prst="rect">
            <a:avLst/>
          </a:prstGeom>
        </p:spPr>
      </p:pic>
      <p:sp>
        <p:nvSpPr>
          <p:cNvPr id="4" name="Text 1"/>
          <p:cNvSpPr/>
          <p:nvPr/>
        </p:nvSpPr>
        <p:spPr>
          <a:xfrm>
            <a:off x="793790" y="2884170"/>
            <a:ext cx="3420785"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Live Market Price Simulation</a:t>
            </a:r>
            <a:endParaRPr lang="en-US" sz="1950" dirty="0"/>
          </a:p>
        </p:txBody>
      </p:sp>
      <p:sp>
        <p:nvSpPr>
          <p:cNvPr id="5" name="Text 2"/>
          <p:cNvSpPr/>
          <p:nvPr/>
        </p:nvSpPr>
        <p:spPr>
          <a:xfrm>
            <a:off x="793790" y="3313390"/>
            <a:ext cx="4182189" cy="95261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Dynamic price updates simulating real NSE market conditions with randomized fluctuations based on market volatility algorithms</a:t>
            </a:r>
            <a:endParaRPr lang="en-US" sz="15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23986" y="2140029"/>
            <a:ext cx="496133" cy="496133"/>
          </a:xfrm>
          <a:prstGeom prst="rect">
            <a:avLst/>
          </a:prstGeom>
        </p:spPr>
      </p:pic>
      <p:sp>
        <p:nvSpPr>
          <p:cNvPr id="7" name="Text 3"/>
          <p:cNvSpPr/>
          <p:nvPr/>
        </p:nvSpPr>
        <p:spPr>
          <a:xfrm>
            <a:off x="5223986" y="288417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Buy/Sell Operations</a:t>
            </a:r>
            <a:endParaRPr lang="en-US" sz="1950" dirty="0"/>
          </a:p>
        </p:txBody>
      </p:sp>
      <p:sp>
        <p:nvSpPr>
          <p:cNvPr id="8" name="Text 4"/>
          <p:cNvSpPr/>
          <p:nvPr/>
        </p:nvSpPr>
        <p:spPr>
          <a:xfrm>
            <a:off x="5223986" y="3313390"/>
            <a:ext cx="4182308" cy="127015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Complete transaction management with validation checks for sufficient funds, available shares, and market availability before executing trades</a:t>
            </a:r>
            <a:endParaRPr lang="en-US" sz="15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54302" y="2140029"/>
            <a:ext cx="496133" cy="496133"/>
          </a:xfrm>
          <a:prstGeom prst="rect">
            <a:avLst/>
          </a:prstGeom>
        </p:spPr>
      </p:pic>
      <p:sp>
        <p:nvSpPr>
          <p:cNvPr id="10" name="Text 5"/>
          <p:cNvSpPr/>
          <p:nvPr/>
        </p:nvSpPr>
        <p:spPr>
          <a:xfrm>
            <a:off x="9654302" y="2884170"/>
            <a:ext cx="3071574"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Portfolio Summary &amp; P&amp;L</a:t>
            </a:r>
            <a:endParaRPr lang="en-US" sz="1950" dirty="0"/>
          </a:p>
        </p:txBody>
      </p:sp>
      <p:sp>
        <p:nvSpPr>
          <p:cNvPr id="11" name="Text 6"/>
          <p:cNvSpPr/>
          <p:nvPr/>
        </p:nvSpPr>
        <p:spPr>
          <a:xfrm>
            <a:off x="9654302" y="3313390"/>
            <a:ext cx="4182308" cy="95261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Real-time calculation of portfolio value, profit/loss analysis, and performance metrics across all holdings</a:t>
            </a:r>
            <a:endParaRPr lang="en-US" sz="15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3790" y="4980384"/>
            <a:ext cx="496133" cy="496133"/>
          </a:xfrm>
          <a:prstGeom prst="rect">
            <a:avLst/>
          </a:prstGeom>
        </p:spPr>
      </p:pic>
      <p:sp>
        <p:nvSpPr>
          <p:cNvPr id="13" name="Text 7"/>
          <p:cNvSpPr/>
          <p:nvPr/>
        </p:nvSpPr>
        <p:spPr>
          <a:xfrm>
            <a:off x="793790" y="5724525"/>
            <a:ext cx="2603421"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Trade History Tracking</a:t>
            </a:r>
            <a:endParaRPr lang="en-US" sz="1950" dirty="0"/>
          </a:p>
        </p:txBody>
      </p:sp>
      <p:sp>
        <p:nvSpPr>
          <p:cNvPr id="14" name="Text 8"/>
          <p:cNvSpPr/>
          <p:nvPr/>
        </p:nvSpPr>
        <p:spPr>
          <a:xfrm>
            <a:off x="793790" y="6153745"/>
            <a:ext cx="4182189" cy="95261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Comprehensive audit trail of all transactions including timestamps, prices, quantities, and resulting portfolio changes</a:t>
            </a:r>
            <a:endParaRPr lang="en-US" sz="15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223986" y="4980384"/>
            <a:ext cx="496133" cy="496133"/>
          </a:xfrm>
          <a:prstGeom prst="rect">
            <a:avLst/>
          </a:prstGeom>
        </p:spPr>
      </p:pic>
      <p:sp>
        <p:nvSpPr>
          <p:cNvPr id="16" name="Text 9"/>
          <p:cNvSpPr/>
          <p:nvPr/>
        </p:nvSpPr>
        <p:spPr>
          <a:xfrm>
            <a:off x="5223986" y="5724525"/>
            <a:ext cx="2543651"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Search &amp; Filter Stocks</a:t>
            </a:r>
            <a:endParaRPr lang="en-US" sz="1950" dirty="0"/>
          </a:p>
        </p:txBody>
      </p:sp>
      <p:sp>
        <p:nvSpPr>
          <p:cNvPr id="17" name="Text 10"/>
          <p:cNvSpPr/>
          <p:nvPr/>
        </p:nvSpPr>
        <p:spPr>
          <a:xfrm>
            <a:off x="5223986" y="6153745"/>
            <a:ext cx="4182308" cy="95261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Quick lookup and filtering capabilities to locate specific stocks, analyze price ranges, or identify top performers</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2228" y="474940"/>
            <a:ext cx="4263985" cy="532924"/>
          </a:xfrm>
          <a:prstGeom prst="rect">
            <a:avLst/>
          </a:prstGeom>
          <a:noFill/>
          <a:ln/>
        </p:spPr>
        <p:txBody>
          <a:bodyPr wrap="none" lIns="0" tIns="0" rIns="0" bIns="0" rtlCol="0" anchor="t"/>
          <a:lstStyle/>
          <a:p>
            <a:pPr algn="l" indent="0" marL="0">
              <a:lnSpc>
                <a:spcPts val="4150"/>
              </a:lnSpc>
              <a:buNone/>
            </a:pPr>
            <a:r>
              <a:rPr lang="en-US" sz="3350" dirty="0">
                <a:solidFill>
                  <a:srgbClr val="124E73"/>
                </a:solidFill>
                <a:latin typeface="MuseoModerno Medium" pitchFamily="34" charset="0"/>
                <a:ea typeface="MuseoModerno Medium" pitchFamily="34" charset="-122"/>
                <a:cs typeface="MuseoModerno Medium" pitchFamily="34" charset="-120"/>
              </a:rPr>
              <a:t>System Architecture</a:t>
            </a:r>
            <a:endParaRPr lang="en-US" sz="3350" dirty="0"/>
          </a:p>
        </p:txBody>
      </p:sp>
      <p:sp>
        <p:nvSpPr>
          <p:cNvPr id="3" name="Text 1"/>
          <p:cNvSpPr/>
          <p:nvPr/>
        </p:nvSpPr>
        <p:spPr>
          <a:xfrm>
            <a:off x="682228" y="1300996"/>
            <a:ext cx="13265944" cy="507444"/>
          </a:xfrm>
          <a:prstGeom prst="rect">
            <a:avLst/>
          </a:prstGeom>
          <a:noFill/>
          <a:ln/>
        </p:spPr>
        <p:txBody>
          <a:bodyPr wrap="square" lIns="0" tIns="0" rIns="0" bIns="0" rtlCol="0" anchor="t"/>
          <a:lstStyle/>
          <a:p>
            <a:pPr algn="l" indent="0" marL="0">
              <a:lnSpc>
                <a:spcPts val="1950"/>
              </a:lnSpc>
              <a:buNone/>
            </a:pPr>
            <a:r>
              <a:rPr lang="en-US" sz="1300" dirty="0">
                <a:solidFill>
                  <a:srgbClr val="2B4150"/>
                </a:solidFill>
                <a:latin typeface="Source Sans 3" pitchFamily="34" charset="0"/>
                <a:ea typeface="Source Sans 3" pitchFamily="34" charset="-122"/>
                <a:cs typeface="Source Sans 3" pitchFamily="34" charset="-120"/>
              </a:rPr>
              <a:t>The system follows a layered, modular architecture that demonstrates proper object-oriented design principles. Each component has a clearly defined responsibility, and relationships between classes reflect real-world financial concepts.</a:t>
            </a:r>
            <a:endParaRPr lang="en-US" sz="1300" dirty="0"/>
          </a:p>
        </p:txBody>
      </p:sp>
      <p:pic>
        <p:nvPicPr>
          <p:cNvPr id="4" name="Image 0" descr="preencoded.png">    </p:cNvPr>
          <p:cNvPicPr>
            <a:picLocks noChangeAspect="1"/>
          </p:cNvPicPr>
          <p:nvPr/>
        </p:nvPicPr>
        <p:blipFill>
          <a:blip r:embed="rId1"/>
          <a:stretch>
            <a:fillRect/>
          </a:stretch>
        </p:blipFill>
        <p:spPr>
          <a:xfrm>
            <a:off x="1913811" y="1973223"/>
            <a:ext cx="10802660" cy="5781437"/>
          </a:xfrm>
          <a:prstGeom prst="rect">
            <a:avLst/>
          </a:prstGeom>
        </p:spPr>
      </p:pic>
      <p:sp>
        <p:nvSpPr>
          <p:cNvPr id="5" name="Text 2"/>
          <p:cNvSpPr/>
          <p:nvPr/>
        </p:nvSpPr>
        <p:spPr>
          <a:xfrm>
            <a:off x="6903905" y="2520222"/>
            <a:ext cx="2984774" cy="373097"/>
          </a:xfrm>
          <a:prstGeom prst="rect">
            <a:avLst/>
          </a:prstGeom>
          <a:noFill/>
          <a:ln/>
        </p:spPr>
        <p:txBody>
          <a:bodyPr wrap="none" lIns="0" tIns="0" rIns="0" bIns="0" rtlCol="0" anchor="t"/>
          <a:lstStyle/>
          <a:p>
            <a:pPr algn="l" indent="0" marL="0">
              <a:lnSpc>
                <a:spcPts val="2900"/>
              </a:lnSpc>
              <a:buNone/>
            </a:pPr>
            <a:r>
              <a:rPr lang="en-US" sz="2350" dirty="0">
                <a:solidFill>
                  <a:srgbClr val="2B4150"/>
                </a:solidFill>
                <a:latin typeface="MuseoModerno Medium" pitchFamily="34" charset="0"/>
                <a:ea typeface="MuseoModerno Medium" pitchFamily="34" charset="-122"/>
                <a:cs typeface="MuseoModerno Medium" pitchFamily="34" charset="-120"/>
              </a:rPr>
              <a:t>Investor</a:t>
            </a:r>
            <a:endParaRPr lang="en-US" sz="2350"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07458" y="2580746"/>
            <a:ext cx="265313" cy="265313"/>
          </a:xfrm>
          <a:prstGeom prst="rect">
            <a:avLst/>
          </a:prstGeom>
        </p:spPr>
      </p:pic>
      <p:sp>
        <p:nvSpPr>
          <p:cNvPr id="7" name="Text 3"/>
          <p:cNvSpPr/>
          <p:nvPr/>
        </p:nvSpPr>
        <p:spPr>
          <a:xfrm>
            <a:off x="6903905" y="3581475"/>
            <a:ext cx="2984774" cy="373097"/>
          </a:xfrm>
          <a:prstGeom prst="rect">
            <a:avLst/>
          </a:prstGeom>
          <a:noFill/>
          <a:ln/>
        </p:spPr>
        <p:txBody>
          <a:bodyPr wrap="none" lIns="0" tIns="0" rIns="0" bIns="0" rtlCol="0" anchor="t"/>
          <a:lstStyle/>
          <a:p>
            <a:pPr algn="l" indent="0" marL="0">
              <a:lnSpc>
                <a:spcPts val="2900"/>
              </a:lnSpc>
              <a:buNone/>
            </a:pPr>
            <a:r>
              <a:rPr lang="en-US" sz="2350" dirty="0">
                <a:solidFill>
                  <a:srgbClr val="2B4150"/>
                </a:solidFill>
                <a:latin typeface="MuseoModerno Medium" pitchFamily="34" charset="0"/>
                <a:ea typeface="MuseoModerno Medium" pitchFamily="34" charset="-122"/>
                <a:cs typeface="MuseoModerno Medium" pitchFamily="34" charset="-120"/>
              </a:rPr>
              <a:t>Portfolio</a:t>
            </a:r>
            <a:endParaRPr lang="en-US" sz="235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07458" y="3641999"/>
            <a:ext cx="265313" cy="265313"/>
          </a:xfrm>
          <a:prstGeom prst="rect">
            <a:avLst/>
          </a:prstGeom>
        </p:spPr>
      </p:pic>
      <p:sp>
        <p:nvSpPr>
          <p:cNvPr id="9" name="Text 4"/>
          <p:cNvSpPr/>
          <p:nvPr/>
        </p:nvSpPr>
        <p:spPr>
          <a:xfrm>
            <a:off x="6903905" y="4642728"/>
            <a:ext cx="2984774" cy="373097"/>
          </a:xfrm>
          <a:prstGeom prst="rect">
            <a:avLst/>
          </a:prstGeom>
          <a:noFill/>
          <a:ln/>
        </p:spPr>
        <p:txBody>
          <a:bodyPr wrap="none" lIns="0" tIns="0" rIns="0" bIns="0" rtlCol="0" anchor="t"/>
          <a:lstStyle/>
          <a:p>
            <a:pPr algn="l" indent="0" marL="0">
              <a:lnSpc>
                <a:spcPts val="2900"/>
              </a:lnSpc>
              <a:buNone/>
            </a:pPr>
            <a:r>
              <a:rPr lang="en-US" sz="2350" dirty="0">
                <a:solidFill>
                  <a:srgbClr val="2B4150"/>
                </a:solidFill>
                <a:latin typeface="MuseoModerno Medium" pitchFamily="34" charset="0"/>
                <a:ea typeface="MuseoModerno Medium" pitchFamily="34" charset="-122"/>
                <a:cs typeface="MuseoModerno Medium" pitchFamily="34" charset="-120"/>
              </a:rPr>
              <a:t>Trades</a:t>
            </a:r>
            <a:endParaRPr lang="en-US" sz="23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07458" y="4703252"/>
            <a:ext cx="265313" cy="265313"/>
          </a:xfrm>
          <a:prstGeom prst="rect">
            <a:avLst/>
          </a:prstGeom>
        </p:spPr>
      </p:pic>
      <p:sp>
        <p:nvSpPr>
          <p:cNvPr id="11" name="Text 5"/>
          <p:cNvSpPr/>
          <p:nvPr/>
        </p:nvSpPr>
        <p:spPr>
          <a:xfrm>
            <a:off x="6903905" y="5703981"/>
            <a:ext cx="2984774" cy="373097"/>
          </a:xfrm>
          <a:prstGeom prst="rect">
            <a:avLst/>
          </a:prstGeom>
          <a:noFill/>
          <a:ln/>
        </p:spPr>
        <p:txBody>
          <a:bodyPr wrap="none" lIns="0" tIns="0" rIns="0" bIns="0" rtlCol="0" anchor="t"/>
          <a:lstStyle/>
          <a:p>
            <a:pPr algn="l" indent="0" marL="0">
              <a:lnSpc>
                <a:spcPts val="2900"/>
              </a:lnSpc>
              <a:buNone/>
            </a:pPr>
            <a:r>
              <a:rPr lang="en-US" sz="2350" dirty="0">
                <a:solidFill>
                  <a:srgbClr val="2B4150"/>
                </a:solidFill>
                <a:latin typeface="MuseoModerno Medium" pitchFamily="34" charset="0"/>
                <a:ea typeface="MuseoModerno Medium" pitchFamily="34" charset="-122"/>
                <a:cs typeface="MuseoModerno Medium" pitchFamily="34" charset="-120"/>
              </a:rPr>
              <a:t>Stock</a:t>
            </a:r>
            <a:endParaRPr lang="en-US" sz="2350" dirty="0"/>
          </a:p>
        </p:txBody>
      </p:sp>
      <p:pic>
        <p:nvPicPr>
          <p:cNvPr id="12"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07458" y="5764505"/>
            <a:ext cx="265313" cy="2653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4611" y="548521"/>
            <a:ext cx="6359604" cy="542687"/>
          </a:xfrm>
          <a:prstGeom prst="rect">
            <a:avLst/>
          </a:prstGeom>
          <a:noFill/>
          <a:ln/>
        </p:spPr>
        <p:txBody>
          <a:bodyPr wrap="none" lIns="0" tIns="0" rIns="0" bIns="0" rtlCol="0" anchor="t"/>
          <a:lstStyle/>
          <a:p>
            <a:pPr algn="l" indent="0" marL="0">
              <a:lnSpc>
                <a:spcPts val="4250"/>
              </a:lnSpc>
              <a:buNone/>
            </a:pPr>
            <a:r>
              <a:rPr lang="en-US" sz="3400" dirty="0">
                <a:solidFill>
                  <a:srgbClr val="124E73"/>
                </a:solidFill>
                <a:latin typeface="MuseoModerno Medium" pitchFamily="34" charset="0"/>
                <a:ea typeface="MuseoModerno Medium" pitchFamily="34" charset="-122"/>
                <a:cs typeface="MuseoModerno Medium" pitchFamily="34" charset="-120"/>
              </a:rPr>
              <a:t>Design Patterns Implemented</a:t>
            </a:r>
            <a:endParaRPr lang="en-US" sz="3400" dirty="0"/>
          </a:p>
        </p:txBody>
      </p:sp>
      <p:sp>
        <p:nvSpPr>
          <p:cNvPr id="3" name="Shape 1"/>
          <p:cNvSpPr/>
          <p:nvPr/>
        </p:nvSpPr>
        <p:spPr>
          <a:xfrm>
            <a:off x="694611" y="1395055"/>
            <a:ext cx="13241179" cy="1276231"/>
          </a:xfrm>
          <a:prstGeom prst="roundRect">
            <a:avLst>
              <a:gd name="adj" fmla="val 2041"/>
            </a:avLst>
          </a:prstGeom>
          <a:solidFill>
            <a:srgbClr val="FFFCF5"/>
          </a:solidFill>
          <a:ln w="22860">
            <a:solidFill>
              <a:srgbClr val="D9D4C9"/>
            </a:solidFill>
            <a:prstDash val="solid"/>
          </a:ln>
        </p:spPr>
      </p:sp>
      <p:sp>
        <p:nvSpPr>
          <p:cNvPr id="4" name="Shape 2"/>
          <p:cNvSpPr/>
          <p:nvPr/>
        </p:nvSpPr>
        <p:spPr>
          <a:xfrm>
            <a:off x="717471" y="1417915"/>
            <a:ext cx="694611" cy="1230511"/>
          </a:xfrm>
          <a:prstGeom prst="rect">
            <a:avLst/>
          </a:prstGeom>
          <a:solidFill>
            <a:srgbClr val="F3EEE3"/>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34522" y="1902857"/>
            <a:ext cx="260390" cy="260390"/>
          </a:xfrm>
          <a:prstGeom prst="rect">
            <a:avLst/>
          </a:prstGeom>
        </p:spPr>
      </p:pic>
      <p:sp>
        <p:nvSpPr>
          <p:cNvPr id="6" name="Text 3"/>
          <p:cNvSpPr/>
          <p:nvPr/>
        </p:nvSpPr>
        <p:spPr>
          <a:xfrm>
            <a:off x="1564005" y="1591508"/>
            <a:ext cx="2170748" cy="271224"/>
          </a:xfrm>
          <a:prstGeom prst="rect">
            <a:avLst/>
          </a:prstGeom>
          <a:noFill/>
          <a:ln/>
        </p:spPr>
        <p:txBody>
          <a:bodyPr wrap="none" lIns="0" tIns="0" rIns="0" bIns="0" rtlCol="0" anchor="t"/>
          <a:lstStyle/>
          <a:p>
            <a:pPr algn="l" indent="0" marL="0">
              <a:lnSpc>
                <a:spcPts val="2100"/>
              </a:lnSpc>
              <a:buNone/>
            </a:pPr>
            <a:r>
              <a:rPr lang="en-US" sz="1700" dirty="0">
                <a:solidFill>
                  <a:srgbClr val="2B4150"/>
                </a:solidFill>
                <a:latin typeface="MuseoModerno Medium" pitchFamily="34" charset="0"/>
                <a:ea typeface="MuseoModerno Medium" pitchFamily="34" charset="-122"/>
                <a:cs typeface="MuseoModerno Medium" pitchFamily="34" charset="-120"/>
              </a:rPr>
              <a:t>Singleton Pattern</a:t>
            </a:r>
            <a:endParaRPr lang="en-US" sz="1700" dirty="0"/>
          </a:p>
        </p:txBody>
      </p:sp>
      <p:sp>
        <p:nvSpPr>
          <p:cNvPr id="7" name="Text 4"/>
          <p:cNvSpPr/>
          <p:nvPr/>
        </p:nvSpPr>
        <p:spPr>
          <a:xfrm>
            <a:off x="1564005" y="1953816"/>
            <a:ext cx="12175331" cy="521017"/>
          </a:xfrm>
          <a:prstGeom prst="rect">
            <a:avLst/>
          </a:prstGeom>
          <a:noFill/>
          <a:ln/>
        </p:spPr>
        <p:txBody>
          <a:bodyPr wrap="square" lIns="0" tIns="0" rIns="0" bIns="0" rtlCol="0" anchor="t"/>
          <a:lstStyle/>
          <a:p>
            <a:pPr algn="l" indent="0" marL="0">
              <a:lnSpc>
                <a:spcPts val="2050"/>
              </a:lnSpc>
              <a:buNone/>
            </a:pPr>
            <a:r>
              <a:rPr lang="en-US" sz="1350" dirty="0">
                <a:solidFill>
                  <a:srgbClr val="2B4150"/>
                </a:solidFill>
                <a:latin typeface="Source Sans 3" pitchFamily="34" charset="0"/>
                <a:ea typeface="Source Sans 3" pitchFamily="34" charset="-122"/>
                <a:cs typeface="Source Sans 3" pitchFamily="34" charset="-120"/>
              </a:rPr>
              <a:t>Implemented in </a:t>
            </a:r>
            <a:pPr algn="l" indent="0" marL="0">
              <a:lnSpc>
                <a:spcPts val="2050"/>
              </a:lnSpc>
              <a:buNone/>
            </a:pPr>
            <a:r>
              <a:rPr lang="en-US" sz="1350" b="1" dirty="0">
                <a:solidFill>
                  <a:srgbClr val="325F7B"/>
                </a:solidFill>
                <a:latin typeface="Source Sans 3" pitchFamily="34" charset="0"/>
                <a:ea typeface="Source Sans 3" pitchFamily="34" charset="-122"/>
                <a:cs typeface="Source Sans 3" pitchFamily="34" charset="-120"/>
              </a:rPr>
              <a:t>StockMarket</a:t>
            </a:r>
            <a:pPr algn="l" indent="0" marL="0">
              <a:lnSpc>
                <a:spcPts val="2050"/>
              </a:lnSpc>
              <a:buNone/>
            </a:pPr>
            <a:r>
              <a:rPr lang="en-US" sz="1350" dirty="0">
                <a:solidFill>
                  <a:srgbClr val="2B4150"/>
                </a:solidFill>
                <a:latin typeface="Source Sans 3" pitchFamily="34" charset="0"/>
                <a:ea typeface="Source Sans 3" pitchFamily="34" charset="-122"/>
                <a:cs typeface="Source Sans 3" pitchFamily="34" charset="-120"/>
              </a:rPr>
              <a:t> class to ensure single instance managing market data and price updates. Prevents multiple market instances and maintains consistent state across the application.</a:t>
            </a:r>
            <a:endParaRPr lang="en-US" sz="1350" dirty="0"/>
          </a:p>
        </p:txBody>
      </p:sp>
      <p:sp>
        <p:nvSpPr>
          <p:cNvPr id="8" name="Shape 5"/>
          <p:cNvSpPr/>
          <p:nvPr/>
        </p:nvSpPr>
        <p:spPr>
          <a:xfrm>
            <a:off x="694611" y="2823210"/>
            <a:ext cx="13241179" cy="1276231"/>
          </a:xfrm>
          <a:prstGeom prst="roundRect">
            <a:avLst>
              <a:gd name="adj" fmla="val 2041"/>
            </a:avLst>
          </a:prstGeom>
          <a:solidFill>
            <a:srgbClr val="FFFCF5"/>
          </a:solidFill>
          <a:ln w="22860">
            <a:solidFill>
              <a:srgbClr val="D9D4C9"/>
            </a:solidFill>
            <a:prstDash val="solid"/>
          </a:ln>
        </p:spPr>
      </p:sp>
      <p:sp>
        <p:nvSpPr>
          <p:cNvPr id="9" name="Shape 6"/>
          <p:cNvSpPr/>
          <p:nvPr/>
        </p:nvSpPr>
        <p:spPr>
          <a:xfrm>
            <a:off x="717471" y="2846070"/>
            <a:ext cx="694611" cy="1230511"/>
          </a:xfrm>
          <a:prstGeom prst="rect">
            <a:avLst/>
          </a:prstGeom>
          <a:solidFill>
            <a:srgbClr val="F3EEE3"/>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4522" y="3331012"/>
            <a:ext cx="260390" cy="260390"/>
          </a:xfrm>
          <a:prstGeom prst="rect">
            <a:avLst/>
          </a:prstGeom>
        </p:spPr>
      </p:pic>
      <p:sp>
        <p:nvSpPr>
          <p:cNvPr id="11" name="Text 7"/>
          <p:cNvSpPr/>
          <p:nvPr/>
        </p:nvSpPr>
        <p:spPr>
          <a:xfrm>
            <a:off x="1564005" y="3019663"/>
            <a:ext cx="2170748" cy="271224"/>
          </a:xfrm>
          <a:prstGeom prst="rect">
            <a:avLst/>
          </a:prstGeom>
          <a:noFill/>
          <a:ln/>
        </p:spPr>
        <p:txBody>
          <a:bodyPr wrap="none" lIns="0" tIns="0" rIns="0" bIns="0" rtlCol="0" anchor="t"/>
          <a:lstStyle/>
          <a:p>
            <a:pPr algn="l" indent="0" marL="0">
              <a:lnSpc>
                <a:spcPts val="2100"/>
              </a:lnSpc>
              <a:buNone/>
            </a:pPr>
            <a:r>
              <a:rPr lang="en-US" sz="1700" dirty="0">
                <a:solidFill>
                  <a:srgbClr val="2B4150"/>
                </a:solidFill>
                <a:latin typeface="MuseoModerno Medium" pitchFamily="34" charset="0"/>
                <a:ea typeface="MuseoModerno Medium" pitchFamily="34" charset="-122"/>
                <a:cs typeface="MuseoModerno Medium" pitchFamily="34" charset="-120"/>
              </a:rPr>
              <a:t>Strategy Pattern</a:t>
            </a:r>
            <a:endParaRPr lang="en-US" sz="1700" dirty="0"/>
          </a:p>
        </p:txBody>
      </p:sp>
      <p:sp>
        <p:nvSpPr>
          <p:cNvPr id="12" name="Text 8"/>
          <p:cNvSpPr/>
          <p:nvPr/>
        </p:nvSpPr>
        <p:spPr>
          <a:xfrm>
            <a:off x="1564005" y="3381970"/>
            <a:ext cx="12175331" cy="521017"/>
          </a:xfrm>
          <a:prstGeom prst="rect">
            <a:avLst/>
          </a:prstGeom>
          <a:noFill/>
          <a:ln/>
        </p:spPr>
        <p:txBody>
          <a:bodyPr wrap="square" lIns="0" tIns="0" rIns="0" bIns="0" rtlCol="0" anchor="t"/>
          <a:lstStyle/>
          <a:p>
            <a:pPr algn="l" indent="0" marL="0">
              <a:lnSpc>
                <a:spcPts val="2050"/>
              </a:lnSpc>
              <a:buNone/>
            </a:pPr>
            <a:r>
              <a:rPr lang="en-US" sz="1350" dirty="0">
                <a:solidFill>
                  <a:srgbClr val="2B4150"/>
                </a:solidFill>
                <a:latin typeface="Source Sans 3" pitchFamily="34" charset="0"/>
                <a:ea typeface="Source Sans 3" pitchFamily="34" charset="-122"/>
                <a:cs typeface="Source Sans 3" pitchFamily="34" charset="-120"/>
              </a:rPr>
              <a:t>Applied in </a:t>
            </a:r>
            <a:pPr algn="l" indent="0" marL="0">
              <a:lnSpc>
                <a:spcPts val="2050"/>
              </a:lnSpc>
              <a:buNone/>
            </a:pPr>
            <a:r>
              <a:rPr lang="en-US" sz="1350" b="1" dirty="0">
                <a:solidFill>
                  <a:srgbClr val="325F7B"/>
                </a:solidFill>
                <a:latin typeface="Source Sans 3" pitchFamily="34" charset="0"/>
                <a:ea typeface="Source Sans 3" pitchFamily="34" charset="-122"/>
                <a:cs typeface="Source Sans 3" pitchFamily="34" charset="-120"/>
              </a:rPr>
              <a:t>Report</a:t>
            </a:r>
            <a:pPr algn="l" indent="0" marL="0">
              <a:lnSpc>
                <a:spcPts val="2050"/>
              </a:lnSpc>
              <a:buNone/>
            </a:pPr>
            <a:r>
              <a:rPr lang="en-US" sz="1350" dirty="0">
                <a:solidFill>
                  <a:srgbClr val="2B4150"/>
                </a:solidFill>
                <a:latin typeface="Source Sans 3" pitchFamily="34" charset="0"/>
                <a:ea typeface="Source Sans 3" pitchFamily="34" charset="-122"/>
                <a:cs typeface="Source Sans 3" pitchFamily="34" charset="-120"/>
              </a:rPr>
              <a:t> generation to allow different report formats (portfolio summary, trade history, performance analysis) through interchangeable algorithm implementations.</a:t>
            </a:r>
            <a:endParaRPr lang="en-US" sz="1350" dirty="0"/>
          </a:p>
        </p:txBody>
      </p:sp>
      <p:sp>
        <p:nvSpPr>
          <p:cNvPr id="13" name="Shape 9"/>
          <p:cNvSpPr/>
          <p:nvPr/>
        </p:nvSpPr>
        <p:spPr>
          <a:xfrm>
            <a:off x="694611" y="4251365"/>
            <a:ext cx="13241179" cy="1041916"/>
          </a:xfrm>
          <a:prstGeom prst="roundRect">
            <a:avLst>
              <a:gd name="adj" fmla="val 2500"/>
            </a:avLst>
          </a:prstGeom>
          <a:solidFill>
            <a:srgbClr val="FFFCF5"/>
          </a:solidFill>
          <a:ln w="22860">
            <a:solidFill>
              <a:srgbClr val="D9D4C9"/>
            </a:solidFill>
            <a:prstDash val="solid"/>
          </a:ln>
        </p:spPr>
      </p:sp>
      <p:sp>
        <p:nvSpPr>
          <p:cNvPr id="14" name="Shape 10"/>
          <p:cNvSpPr/>
          <p:nvPr/>
        </p:nvSpPr>
        <p:spPr>
          <a:xfrm>
            <a:off x="717471" y="4274225"/>
            <a:ext cx="694611" cy="996196"/>
          </a:xfrm>
          <a:prstGeom prst="rect">
            <a:avLst/>
          </a:prstGeom>
          <a:solidFill>
            <a:srgbClr val="F3EEE3"/>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4522" y="4642009"/>
            <a:ext cx="260390" cy="260390"/>
          </a:xfrm>
          <a:prstGeom prst="rect">
            <a:avLst/>
          </a:prstGeom>
        </p:spPr>
      </p:pic>
      <p:sp>
        <p:nvSpPr>
          <p:cNvPr id="16" name="Text 11"/>
          <p:cNvSpPr/>
          <p:nvPr/>
        </p:nvSpPr>
        <p:spPr>
          <a:xfrm>
            <a:off x="1564005" y="4447818"/>
            <a:ext cx="2958108" cy="271224"/>
          </a:xfrm>
          <a:prstGeom prst="rect">
            <a:avLst/>
          </a:prstGeom>
          <a:noFill/>
          <a:ln/>
        </p:spPr>
        <p:txBody>
          <a:bodyPr wrap="none" lIns="0" tIns="0" rIns="0" bIns="0" rtlCol="0" anchor="t"/>
          <a:lstStyle/>
          <a:p>
            <a:pPr algn="l" indent="0" marL="0">
              <a:lnSpc>
                <a:spcPts val="2100"/>
              </a:lnSpc>
              <a:buNone/>
            </a:pPr>
            <a:r>
              <a:rPr lang="en-US" sz="1700" dirty="0">
                <a:solidFill>
                  <a:srgbClr val="2B4150"/>
                </a:solidFill>
                <a:latin typeface="MuseoModerno Medium" pitchFamily="34" charset="0"/>
                <a:ea typeface="MuseoModerno Medium" pitchFamily="34" charset="-122"/>
                <a:cs typeface="MuseoModerno Medium" pitchFamily="34" charset="-120"/>
              </a:rPr>
              <a:t>Encapsulation &amp; Abstraction</a:t>
            </a:r>
            <a:endParaRPr lang="en-US" sz="1700" dirty="0"/>
          </a:p>
        </p:txBody>
      </p:sp>
      <p:sp>
        <p:nvSpPr>
          <p:cNvPr id="17" name="Text 12"/>
          <p:cNvSpPr/>
          <p:nvPr/>
        </p:nvSpPr>
        <p:spPr>
          <a:xfrm>
            <a:off x="1564005" y="4810125"/>
            <a:ext cx="12175331" cy="260509"/>
          </a:xfrm>
          <a:prstGeom prst="rect">
            <a:avLst/>
          </a:prstGeom>
          <a:noFill/>
          <a:ln/>
        </p:spPr>
        <p:txBody>
          <a:bodyPr wrap="none" lIns="0" tIns="0" rIns="0" bIns="0" rtlCol="0" anchor="t"/>
          <a:lstStyle/>
          <a:p>
            <a:pPr algn="l" indent="0" marL="0">
              <a:lnSpc>
                <a:spcPts val="2050"/>
              </a:lnSpc>
              <a:buNone/>
            </a:pPr>
            <a:r>
              <a:rPr lang="en-US" sz="1350" dirty="0">
                <a:solidFill>
                  <a:srgbClr val="2B4150"/>
                </a:solidFill>
                <a:latin typeface="Source Sans 3" pitchFamily="34" charset="0"/>
                <a:ea typeface="Source Sans 3" pitchFamily="34" charset="-122"/>
                <a:cs typeface="Source Sans 3" pitchFamily="34" charset="-120"/>
              </a:rPr>
              <a:t>Private data members with public accessor methods ensure data integrity. Abstract classes define contracts while concrete implementations handle specific behaviors.</a:t>
            </a:r>
            <a:endParaRPr lang="en-US" sz="1350" dirty="0"/>
          </a:p>
        </p:txBody>
      </p:sp>
      <p:sp>
        <p:nvSpPr>
          <p:cNvPr id="18" name="Shape 13"/>
          <p:cNvSpPr/>
          <p:nvPr/>
        </p:nvSpPr>
        <p:spPr>
          <a:xfrm>
            <a:off x="694611" y="5445204"/>
            <a:ext cx="13241179" cy="1041916"/>
          </a:xfrm>
          <a:prstGeom prst="roundRect">
            <a:avLst>
              <a:gd name="adj" fmla="val 2500"/>
            </a:avLst>
          </a:prstGeom>
          <a:solidFill>
            <a:srgbClr val="FFFCF5"/>
          </a:solidFill>
          <a:ln w="22860">
            <a:solidFill>
              <a:srgbClr val="D9D4C9"/>
            </a:solidFill>
            <a:prstDash val="solid"/>
          </a:ln>
        </p:spPr>
      </p:sp>
      <p:sp>
        <p:nvSpPr>
          <p:cNvPr id="19" name="Shape 14"/>
          <p:cNvSpPr/>
          <p:nvPr/>
        </p:nvSpPr>
        <p:spPr>
          <a:xfrm>
            <a:off x="717471" y="5468064"/>
            <a:ext cx="694611" cy="996196"/>
          </a:xfrm>
          <a:prstGeom prst="rect">
            <a:avLst/>
          </a:prstGeom>
          <a:solidFill>
            <a:srgbClr val="F3EEE3"/>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34522" y="5835848"/>
            <a:ext cx="260390" cy="260390"/>
          </a:xfrm>
          <a:prstGeom prst="rect">
            <a:avLst/>
          </a:prstGeom>
        </p:spPr>
      </p:pic>
      <p:sp>
        <p:nvSpPr>
          <p:cNvPr id="21" name="Text 15"/>
          <p:cNvSpPr/>
          <p:nvPr/>
        </p:nvSpPr>
        <p:spPr>
          <a:xfrm>
            <a:off x="1564005" y="5641658"/>
            <a:ext cx="3005614" cy="271224"/>
          </a:xfrm>
          <a:prstGeom prst="rect">
            <a:avLst/>
          </a:prstGeom>
          <a:noFill/>
          <a:ln/>
        </p:spPr>
        <p:txBody>
          <a:bodyPr wrap="none" lIns="0" tIns="0" rIns="0" bIns="0" rtlCol="0" anchor="t"/>
          <a:lstStyle/>
          <a:p>
            <a:pPr algn="l" indent="0" marL="0">
              <a:lnSpc>
                <a:spcPts val="2100"/>
              </a:lnSpc>
              <a:buNone/>
            </a:pPr>
            <a:r>
              <a:rPr lang="en-US" sz="1700" dirty="0">
                <a:solidFill>
                  <a:srgbClr val="2B4150"/>
                </a:solidFill>
                <a:latin typeface="MuseoModerno Medium" pitchFamily="34" charset="0"/>
                <a:ea typeface="MuseoModerno Medium" pitchFamily="34" charset="-122"/>
                <a:cs typeface="MuseoModerno Medium" pitchFamily="34" charset="-120"/>
              </a:rPr>
              <a:t>Inheritance &amp; Polymorphism</a:t>
            </a:r>
            <a:endParaRPr lang="en-US" sz="1700" dirty="0"/>
          </a:p>
        </p:txBody>
      </p:sp>
      <p:sp>
        <p:nvSpPr>
          <p:cNvPr id="22" name="Text 16"/>
          <p:cNvSpPr/>
          <p:nvPr/>
        </p:nvSpPr>
        <p:spPr>
          <a:xfrm>
            <a:off x="1564005" y="6003965"/>
            <a:ext cx="12175331" cy="260509"/>
          </a:xfrm>
          <a:prstGeom prst="rect">
            <a:avLst/>
          </a:prstGeom>
          <a:noFill/>
          <a:ln/>
        </p:spPr>
        <p:txBody>
          <a:bodyPr wrap="none" lIns="0" tIns="0" rIns="0" bIns="0" rtlCol="0" anchor="t"/>
          <a:lstStyle/>
          <a:p>
            <a:pPr algn="l" indent="0" marL="0">
              <a:lnSpc>
                <a:spcPts val="2050"/>
              </a:lnSpc>
              <a:buNone/>
            </a:pPr>
            <a:r>
              <a:rPr lang="en-US" sz="1350" dirty="0">
                <a:solidFill>
                  <a:srgbClr val="2B4150"/>
                </a:solidFill>
                <a:latin typeface="Source Sans 3" pitchFamily="34" charset="0"/>
                <a:ea typeface="Source Sans 3" pitchFamily="34" charset="-122"/>
                <a:cs typeface="Source Sans 3" pitchFamily="34" charset="-120"/>
              </a:rPr>
              <a:t>Base classes define common attributes while derived classes extend functionality. Method overriding enables dynamic behavior based on runtime object types.</a:t>
            </a:r>
            <a:endParaRPr lang="en-US" sz="1350" dirty="0"/>
          </a:p>
        </p:txBody>
      </p:sp>
      <p:sp>
        <p:nvSpPr>
          <p:cNvPr id="23" name="Shape 17"/>
          <p:cNvSpPr/>
          <p:nvPr/>
        </p:nvSpPr>
        <p:spPr>
          <a:xfrm>
            <a:off x="694611" y="6639044"/>
            <a:ext cx="13241179" cy="1041916"/>
          </a:xfrm>
          <a:prstGeom prst="roundRect">
            <a:avLst>
              <a:gd name="adj" fmla="val 2500"/>
            </a:avLst>
          </a:prstGeom>
          <a:solidFill>
            <a:srgbClr val="FFFCF5"/>
          </a:solidFill>
          <a:ln w="22860">
            <a:solidFill>
              <a:srgbClr val="D9D4C9"/>
            </a:solidFill>
            <a:prstDash val="solid"/>
          </a:ln>
        </p:spPr>
      </p:sp>
      <p:sp>
        <p:nvSpPr>
          <p:cNvPr id="24" name="Shape 18"/>
          <p:cNvSpPr/>
          <p:nvPr/>
        </p:nvSpPr>
        <p:spPr>
          <a:xfrm>
            <a:off x="717471" y="6661904"/>
            <a:ext cx="694611" cy="996196"/>
          </a:xfrm>
          <a:prstGeom prst="rect">
            <a:avLst/>
          </a:prstGeom>
          <a:solidFill>
            <a:srgbClr val="F3EEE3"/>
          </a:solidFill>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34522" y="7029688"/>
            <a:ext cx="260390" cy="260390"/>
          </a:xfrm>
          <a:prstGeom prst="rect">
            <a:avLst/>
          </a:prstGeom>
        </p:spPr>
      </p:pic>
      <p:sp>
        <p:nvSpPr>
          <p:cNvPr id="26" name="Text 19"/>
          <p:cNvSpPr/>
          <p:nvPr/>
        </p:nvSpPr>
        <p:spPr>
          <a:xfrm>
            <a:off x="1564005" y="6835497"/>
            <a:ext cx="4228028" cy="271224"/>
          </a:xfrm>
          <a:prstGeom prst="rect">
            <a:avLst/>
          </a:prstGeom>
          <a:noFill/>
          <a:ln/>
        </p:spPr>
        <p:txBody>
          <a:bodyPr wrap="none" lIns="0" tIns="0" rIns="0" bIns="0" rtlCol="0" anchor="t"/>
          <a:lstStyle/>
          <a:p>
            <a:pPr algn="l" indent="0" marL="0">
              <a:lnSpc>
                <a:spcPts val="2100"/>
              </a:lnSpc>
              <a:buNone/>
            </a:pPr>
            <a:r>
              <a:rPr lang="en-US" sz="1700" dirty="0">
                <a:solidFill>
                  <a:srgbClr val="2B4150"/>
                </a:solidFill>
                <a:latin typeface="MuseoModerno Medium" pitchFamily="34" charset="0"/>
                <a:ea typeface="MuseoModerno Medium" pitchFamily="34" charset="-122"/>
                <a:cs typeface="MuseoModerno Medium" pitchFamily="34" charset="-120"/>
              </a:rPr>
              <a:t>Association, Aggregation &amp; Composition</a:t>
            </a:r>
            <a:endParaRPr lang="en-US" sz="1700" dirty="0"/>
          </a:p>
        </p:txBody>
      </p:sp>
      <p:sp>
        <p:nvSpPr>
          <p:cNvPr id="27" name="Text 20"/>
          <p:cNvSpPr/>
          <p:nvPr/>
        </p:nvSpPr>
        <p:spPr>
          <a:xfrm>
            <a:off x="1564005" y="7197804"/>
            <a:ext cx="12175331" cy="260509"/>
          </a:xfrm>
          <a:prstGeom prst="rect">
            <a:avLst/>
          </a:prstGeom>
          <a:noFill/>
          <a:ln/>
        </p:spPr>
        <p:txBody>
          <a:bodyPr wrap="none" lIns="0" tIns="0" rIns="0" bIns="0" rtlCol="0" anchor="t"/>
          <a:lstStyle/>
          <a:p>
            <a:pPr algn="l" indent="0" marL="0">
              <a:lnSpc>
                <a:spcPts val="2050"/>
              </a:lnSpc>
              <a:buNone/>
            </a:pPr>
            <a:r>
              <a:rPr lang="en-US" sz="1350" dirty="0">
                <a:solidFill>
                  <a:srgbClr val="2B4150"/>
                </a:solidFill>
                <a:latin typeface="Source Sans 3" pitchFamily="34" charset="0"/>
                <a:ea typeface="Source Sans 3" pitchFamily="34" charset="-122"/>
                <a:cs typeface="Source Sans 3" pitchFamily="34" charset="-120"/>
              </a:rPr>
              <a:t>Relationships between classes model real-world connections: Portfolio owns Trades, Trades reference Stocks, demonstrating appropriate ownership semantics.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946071"/>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Class Structure</a:t>
            </a:r>
            <a:endParaRPr lang="en-US" sz="3900" dirty="0"/>
          </a:p>
        </p:txBody>
      </p:sp>
      <p:sp>
        <p:nvSpPr>
          <p:cNvPr id="3" name="Text 1"/>
          <p:cNvSpPr/>
          <p:nvPr/>
        </p:nvSpPr>
        <p:spPr>
          <a:xfrm>
            <a:off x="793790" y="1962983"/>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The system comprises six core classes, each serving a specific role in the portfolio management ecosystem:</a:t>
            </a:r>
            <a:endParaRPr lang="en-US" sz="1550" dirty="0"/>
          </a:p>
        </p:txBody>
      </p:sp>
      <p:sp>
        <p:nvSpPr>
          <p:cNvPr id="4" name="Shape 2"/>
          <p:cNvSpPr/>
          <p:nvPr/>
        </p:nvSpPr>
        <p:spPr>
          <a:xfrm>
            <a:off x="793790" y="2503765"/>
            <a:ext cx="6422231" cy="1461016"/>
          </a:xfrm>
          <a:prstGeom prst="roundRect">
            <a:avLst>
              <a:gd name="adj" fmla="val 2038"/>
            </a:avLst>
          </a:prstGeom>
          <a:solidFill>
            <a:srgbClr val="325F7B"/>
          </a:solidFill>
          <a:ln/>
        </p:spPr>
      </p:sp>
      <p:sp>
        <p:nvSpPr>
          <p:cNvPr id="5" name="Text 3"/>
          <p:cNvSpPr/>
          <p:nvPr/>
        </p:nvSpPr>
        <p:spPr>
          <a:xfrm>
            <a:off x="992148" y="270212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MuseoModerno Medium" pitchFamily="34" charset="0"/>
                <a:ea typeface="MuseoModerno Medium" pitchFamily="34" charset="-122"/>
                <a:cs typeface="MuseoModerno Medium" pitchFamily="34" charset="-120"/>
              </a:rPr>
              <a:t>Stock</a:t>
            </a:r>
            <a:endParaRPr lang="en-US" sz="1950" dirty="0"/>
          </a:p>
        </p:txBody>
      </p:sp>
      <p:sp>
        <p:nvSpPr>
          <p:cNvPr id="6" name="Text 4"/>
          <p:cNvSpPr/>
          <p:nvPr/>
        </p:nvSpPr>
        <p:spPr>
          <a:xfrm>
            <a:off x="992148" y="3131344"/>
            <a:ext cx="6025515" cy="63507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Source Sans 3" pitchFamily="34" charset="0"/>
                <a:ea typeface="Source Sans 3" pitchFamily="34" charset="-122"/>
                <a:cs typeface="Source Sans 3" pitchFamily="34" charset="-120"/>
              </a:rPr>
              <a:t>Represents individual stocks with symbol, company name, current price, and historical data tracking</a:t>
            </a:r>
            <a:endParaRPr lang="en-US" sz="1550" dirty="0"/>
          </a:p>
        </p:txBody>
      </p:sp>
      <p:sp>
        <p:nvSpPr>
          <p:cNvPr id="7" name="Shape 5"/>
          <p:cNvSpPr/>
          <p:nvPr/>
        </p:nvSpPr>
        <p:spPr>
          <a:xfrm>
            <a:off x="7414379" y="2503765"/>
            <a:ext cx="6422231" cy="1461016"/>
          </a:xfrm>
          <a:prstGeom prst="roundRect">
            <a:avLst>
              <a:gd name="adj" fmla="val 2038"/>
            </a:avLst>
          </a:prstGeom>
          <a:solidFill>
            <a:srgbClr val="51738C"/>
          </a:solidFill>
          <a:ln/>
        </p:spPr>
      </p:sp>
      <p:sp>
        <p:nvSpPr>
          <p:cNvPr id="8" name="Text 6"/>
          <p:cNvSpPr/>
          <p:nvPr/>
        </p:nvSpPr>
        <p:spPr>
          <a:xfrm>
            <a:off x="7612737" y="270212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MuseoModerno Medium" pitchFamily="34" charset="0"/>
                <a:ea typeface="MuseoModerno Medium" pitchFamily="34" charset="-122"/>
                <a:cs typeface="MuseoModerno Medium" pitchFamily="34" charset="-120"/>
              </a:rPr>
              <a:t>Trade</a:t>
            </a:r>
            <a:endParaRPr lang="en-US" sz="1950" dirty="0"/>
          </a:p>
        </p:txBody>
      </p:sp>
      <p:sp>
        <p:nvSpPr>
          <p:cNvPr id="9" name="Text 7"/>
          <p:cNvSpPr/>
          <p:nvPr/>
        </p:nvSpPr>
        <p:spPr>
          <a:xfrm>
            <a:off x="7612737" y="3131344"/>
            <a:ext cx="6025515" cy="63507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Source Sans 3" pitchFamily="34" charset="0"/>
                <a:ea typeface="Source Sans 3" pitchFamily="34" charset="-122"/>
                <a:cs typeface="Source Sans 3" pitchFamily="34" charset="-120"/>
              </a:rPr>
              <a:t>Records buy/sell transactions with timestamp, quantity, price, and transaction type</a:t>
            </a:r>
            <a:endParaRPr lang="en-US" sz="1550" dirty="0"/>
          </a:p>
        </p:txBody>
      </p:sp>
      <p:sp>
        <p:nvSpPr>
          <p:cNvPr id="10" name="Shape 8"/>
          <p:cNvSpPr/>
          <p:nvPr/>
        </p:nvSpPr>
        <p:spPr>
          <a:xfrm>
            <a:off x="793790" y="4163139"/>
            <a:ext cx="6422231" cy="1461016"/>
          </a:xfrm>
          <a:prstGeom prst="roundRect">
            <a:avLst>
              <a:gd name="adj" fmla="val 2038"/>
            </a:avLst>
          </a:prstGeom>
          <a:solidFill>
            <a:srgbClr val="325F7B"/>
          </a:solidFill>
          <a:ln/>
        </p:spPr>
      </p:sp>
      <p:sp>
        <p:nvSpPr>
          <p:cNvPr id="11" name="Text 9"/>
          <p:cNvSpPr/>
          <p:nvPr/>
        </p:nvSpPr>
        <p:spPr>
          <a:xfrm>
            <a:off x="992148" y="436149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MuseoModerno Medium" pitchFamily="34" charset="0"/>
                <a:ea typeface="MuseoModerno Medium" pitchFamily="34" charset="-122"/>
                <a:cs typeface="MuseoModerno Medium" pitchFamily="34" charset="-120"/>
              </a:rPr>
              <a:t>Portfolio</a:t>
            </a:r>
            <a:endParaRPr lang="en-US" sz="1950" dirty="0"/>
          </a:p>
        </p:txBody>
      </p:sp>
      <p:sp>
        <p:nvSpPr>
          <p:cNvPr id="12" name="Text 10"/>
          <p:cNvSpPr/>
          <p:nvPr/>
        </p:nvSpPr>
        <p:spPr>
          <a:xfrm>
            <a:off x="992148" y="4790718"/>
            <a:ext cx="6025515" cy="63507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Source Sans 3" pitchFamily="34" charset="0"/>
                <a:ea typeface="Source Sans 3" pitchFamily="34" charset="-122"/>
                <a:cs typeface="Source Sans 3" pitchFamily="34" charset="-120"/>
              </a:rPr>
              <a:t>Manages collection of holdings, calculates total value, profit/loss, and generates performance metrics</a:t>
            </a:r>
            <a:endParaRPr lang="en-US" sz="1550" dirty="0"/>
          </a:p>
        </p:txBody>
      </p:sp>
      <p:sp>
        <p:nvSpPr>
          <p:cNvPr id="13" name="Shape 11"/>
          <p:cNvSpPr/>
          <p:nvPr/>
        </p:nvSpPr>
        <p:spPr>
          <a:xfrm>
            <a:off x="7414379" y="4163139"/>
            <a:ext cx="6422231" cy="1461016"/>
          </a:xfrm>
          <a:prstGeom prst="roundRect">
            <a:avLst>
              <a:gd name="adj" fmla="val 2038"/>
            </a:avLst>
          </a:prstGeom>
          <a:solidFill>
            <a:srgbClr val="51738C"/>
          </a:solidFill>
          <a:ln/>
        </p:spPr>
      </p:sp>
      <p:sp>
        <p:nvSpPr>
          <p:cNvPr id="14" name="Text 12"/>
          <p:cNvSpPr/>
          <p:nvPr/>
        </p:nvSpPr>
        <p:spPr>
          <a:xfrm>
            <a:off x="7612737" y="436149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MuseoModerno Medium" pitchFamily="34" charset="0"/>
                <a:ea typeface="MuseoModerno Medium" pitchFamily="34" charset="-122"/>
                <a:cs typeface="MuseoModerno Medium" pitchFamily="34" charset="-120"/>
              </a:rPr>
              <a:t>Investor</a:t>
            </a:r>
            <a:endParaRPr lang="en-US" sz="1950" dirty="0"/>
          </a:p>
        </p:txBody>
      </p:sp>
      <p:sp>
        <p:nvSpPr>
          <p:cNvPr id="15" name="Text 13"/>
          <p:cNvSpPr/>
          <p:nvPr/>
        </p:nvSpPr>
        <p:spPr>
          <a:xfrm>
            <a:off x="7612737" y="4790718"/>
            <a:ext cx="6025515" cy="63507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Source Sans 3" pitchFamily="34" charset="0"/>
                <a:ea typeface="Source Sans 3" pitchFamily="34" charset="-122"/>
                <a:cs typeface="Source Sans 3" pitchFamily="34" charset="-120"/>
              </a:rPr>
              <a:t>Manages user account with funds, portfolio access, and transaction authorization</a:t>
            </a:r>
            <a:endParaRPr lang="en-US" sz="1550" dirty="0"/>
          </a:p>
        </p:txBody>
      </p:sp>
      <p:sp>
        <p:nvSpPr>
          <p:cNvPr id="16" name="Shape 14"/>
          <p:cNvSpPr/>
          <p:nvPr/>
        </p:nvSpPr>
        <p:spPr>
          <a:xfrm>
            <a:off x="793790" y="5822513"/>
            <a:ext cx="6422231" cy="1461016"/>
          </a:xfrm>
          <a:prstGeom prst="roundRect">
            <a:avLst>
              <a:gd name="adj" fmla="val 2038"/>
            </a:avLst>
          </a:prstGeom>
          <a:solidFill>
            <a:srgbClr val="325F7B"/>
          </a:solidFill>
          <a:ln/>
        </p:spPr>
      </p:sp>
      <p:sp>
        <p:nvSpPr>
          <p:cNvPr id="17" name="Text 15"/>
          <p:cNvSpPr/>
          <p:nvPr/>
        </p:nvSpPr>
        <p:spPr>
          <a:xfrm>
            <a:off x="992148" y="602087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MuseoModerno Medium" pitchFamily="34" charset="0"/>
                <a:ea typeface="MuseoModerno Medium" pitchFamily="34" charset="-122"/>
                <a:cs typeface="MuseoModerno Medium" pitchFamily="34" charset="-120"/>
              </a:rPr>
              <a:t>StockMarket</a:t>
            </a:r>
            <a:endParaRPr lang="en-US" sz="1950" dirty="0"/>
          </a:p>
        </p:txBody>
      </p:sp>
      <p:sp>
        <p:nvSpPr>
          <p:cNvPr id="18" name="Text 16"/>
          <p:cNvSpPr/>
          <p:nvPr/>
        </p:nvSpPr>
        <p:spPr>
          <a:xfrm>
            <a:off x="992148" y="6450092"/>
            <a:ext cx="6025515" cy="63507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Source Sans 3" pitchFamily="34" charset="0"/>
                <a:ea typeface="Source Sans 3" pitchFamily="34" charset="-122"/>
                <a:cs typeface="Source Sans 3" pitchFamily="34" charset="-120"/>
              </a:rPr>
              <a:t>Singleton class maintaining market state, price updates, and available stocks with simulated volatility</a:t>
            </a:r>
            <a:endParaRPr lang="en-US" sz="1550" dirty="0"/>
          </a:p>
        </p:txBody>
      </p:sp>
      <p:sp>
        <p:nvSpPr>
          <p:cNvPr id="19" name="Shape 17"/>
          <p:cNvSpPr/>
          <p:nvPr/>
        </p:nvSpPr>
        <p:spPr>
          <a:xfrm>
            <a:off x="7414379" y="5822513"/>
            <a:ext cx="6422231" cy="1461016"/>
          </a:xfrm>
          <a:prstGeom prst="roundRect">
            <a:avLst>
              <a:gd name="adj" fmla="val 2038"/>
            </a:avLst>
          </a:prstGeom>
          <a:solidFill>
            <a:srgbClr val="51738C"/>
          </a:solidFill>
          <a:ln/>
        </p:spPr>
      </p:sp>
      <p:sp>
        <p:nvSpPr>
          <p:cNvPr id="20" name="Text 18"/>
          <p:cNvSpPr/>
          <p:nvPr/>
        </p:nvSpPr>
        <p:spPr>
          <a:xfrm>
            <a:off x="7612737" y="602087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MuseoModerno Medium" pitchFamily="34" charset="0"/>
                <a:ea typeface="MuseoModerno Medium" pitchFamily="34" charset="-122"/>
                <a:cs typeface="MuseoModerno Medium" pitchFamily="34" charset="-120"/>
              </a:rPr>
              <a:t>Report</a:t>
            </a:r>
            <a:endParaRPr lang="en-US" sz="1950" dirty="0"/>
          </a:p>
        </p:txBody>
      </p:sp>
      <p:sp>
        <p:nvSpPr>
          <p:cNvPr id="21" name="Text 19"/>
          <p:cNvSpPr/>
          <p:nvPr/>
        </p:nvSpPr>
        <p:spPr>
          <a:xfrm>
            <a:off x="7612737" y="6450092"/>
            <a:ext cx="6025515" cy="63507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Source Sans 3" pitchFamily="34" charset="0"/>
                <a:ea typeface="Source Sans 3" pitchFamily="34" charset="-122"/>
                <a:cs typeface="Source Sans 3" pitchFamily="34" charset="-120"/>
              </a:rPr>
              <a:t>Strategy pattern implementation generating various report types including portfolio summaries and transaction histories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56642" y="552212"/>
            <a:ext cx="4729163" cy="591145"/>
          </a:xfrm>
          <a:prstGeom prst="rect">
            <a:avLst/>
          </a:prstGeom>
          <a:noFill/>
          <a:ln/>
        </p:spPr>
        <p:txBody>
          <a:bodyPr wrap="none" lIns="0" tIns="0" rIns="0" bIns="0" rtlCol="0" anchor="t"/>
          <a:lstStyle/>
          <a:p>
            <a:pPr algn="l" indent="0" marL="0">
              <a:lnSpc>
                <a:spcPts val="4650"/>
              </a:lnSpc>
              <a:buNone/>
            </a:pPr>
            <a:r>
              <a:rPr lang="en-US" sz="3700" dirty="0">
                <a:solidFill>
                  <a:srgbClr val="124E73"/>
                </a:solidFill>
                <a:latin typeface="MuseoModerno Medium" pitchFamily="34" charset="0"/>
                <a:ea typeface="MuseoModerno Medium" pitchFamily="34" charset="-122"/>
                <a:cs typeface="MuseoModerno Medium" pitchFamily="34" charset="-120"/>
              </a:rPr>
              <a:t>System Workflow</a:t>
            </a:r>
            <a:endParaRPr lang="en-US" sz="3700" dirty="0"/>
          </a:p>
        </p:txBody>
      </p:sp>
      <p:sp>
        <p:nvSpPr>
          <p:cNvPr id="3" name="Text 1"/>
          <p:cNvSpPr/>
          <p:nvPr/>
        </p:nvSpPr>
        <p:spPr>
          <a:xfrm>
            <a:off x="756642" y="1503878"/>
            <a:ext cx="13117116" cy="295513"/>
          </a:xfrm>
          <a:prstGeom prst="rect">
            <a:avLst/>
          </a:prstGeom>
          <a:noFill/>
          <a:ln/>
        </p:spPr>
        <p:txBody>
          <a:bodyPr wrap="none" lIns="0" tIns="0" rIns="0" bIns="0" rtlCol="0" anchor="t"/>
          <a:lstStyle/>
          <a:p>
            <a:pPr algn="l" indent="0" marL="0">
              <a:lnSpc>
                <a:spcPts val="2300"/>
              </a:lnSpc>
              <a:buNone/>
            </a:pPr>
            <a:r>
              <a:rPr lang="en-US" sz="1450" dirty="0">
                <a:solidFill>
                  <a:srgbClr val="2B4150"/>
                </a:solidFill>
                <a:latin typeface="Source Sans 3" pitchFamily="34" charset="0"/>
                <a:ea typeface="Source Sans 3" pitchFamily="34" charset="-122"/>
                <a:cs typeface="Source Sans 3" pitchFamily="34" charset="-120"/>
              </a:rPr>
              <a:t>The application follows a sequential execution flow that simulates real trading operations from market observation to portfolio analysis:</a:t>
            </a:r>
            <a:endParaRPr lang="en-US" sz="1450" dirty="0"/>
          </a:p>
        </p:txBody>
      </p:sp>
      <p:pic>
        <p:nvPicPr>
          <p:cNvPr id="4" name="Image 0" descr="preencoded.png">    </p:cNvPr>
          <p:cNvPicPr>
            <a:picLocks noChangeAspect="1"/>
          </p:cNvPicPr>
          <p:nvPr/>
        </p:nvPicPr>
        <p:blipFill>
          <a:blip r:embed="rId1"/>
          <a:stretch>
            <a:fillRect/>
          </a:stretch>
        </p:blipFill>
        <p:spPr>
          <a:xfrm>
            <a:off x="756642" y="2002155"/>
            <a:ext cx="945833" cy="1135023"/>
          </a:xfrm>
          <a:prstGeom prst="rect">
            <a:avLst/>
          </a:prstGeom>
        </p:spPr>
      </p:pic>
      <p:sp>
        <p:nvSpPr>
          <p:cNvPr id="5" name="Text 2"/>
          <p:cNvSpPr/>
          <p:nvPr/>
        </p:nvSpPr>
        <p:spPr>
          <a:xfrm>
            <a:off x="1882735" y="2191226"/>
            <a:ext cx="2364581" cy="295513"/>
          </a:xfrm>
          <a:prstGeom prst="rect">
            <a:avLst/>
          </a:prstGeom>
          <a:noFill/>
          <a:ln/>
        </p:spPr>
        <p:txBody>
          <a:bodyPr wrap="none" lIns="0" tIns="0" rIns="0" bIns="0" rtlCol="0" anchor="t"/>
          <a:lstStyle/>
          <a:p>
            <a:pPr algn="l" indent="0" marL="0">
              <a:lnSpc>
                <a:spcPts val="2300"/>
              </a:lnSpc>
              <a:buNone/>
            </a:pPr>
            <a:r>
              <a:rPr lang="en-US" sz="1850" dirty="0">
                <a:solidFill>
                  <a:srgbClr val="2B4150"/>
                </a:solidFill>
                <a:latin typeface="MuseoModerno Medium" pitchFamily="34" charset="0"/>
                <a:ea typeface="MuseoModerno Medium" pitchFamily="34" charset="-122"/>
                <a:cs typeface="MuseoModerno Medium" pitchFamily="34" charset="-120"/>
              </a:rPr>
              <a:t>Application Start</a:t>
            </a:r>
            <a:endParaRPr lang="en-US" sz="1850" dirty="0"/>
          </a:p>
        </p:txBody>
      </p:sp>
      <p:sp>
        <p:nvSpPr>
          <p:cNvPr id="6" name="Text 3"/>
          <p:cNvSpPr/>
          <p:nvPr/>
        </p:nvSpPr>
        <p:spPr>
          <a:xfrm>
            <a:off x="1882735" y="2594848"/>
            <a:ext cx="11991023" cy="295513"/>
          </a:xfrm>
          <a:prstGeom prst="rect">
            <a:avLst/>
          </a:prstGeom>
          <a:noFill/>
          <a:ln/>
        </p:spPr>
        <p:txBody>
          <a:bodyPr wrap="none" lIns="0" tIns="0" rIns="0" bIns="0" rtlCol="0" anchor="t"/>
          <a:lstStyle/>
          <a:p>
            <a:pPr algn="l" indent="0" marL="0">
              <a:lnSpc>
                <a:spcPts val="2300"/>
              </a:lnSpc>
              <a:buNone/>
            </a:pPr>
            <a:r>
              <a:rPr lang="en-US" sz="1450" dirty="0">
                <a:solidFill>
                  <a:srgbClr val="2B4150"/>
                </a:solidFill>
                <a:latin typeface="Source Sans 3" pitchFamily="34" charset="0"/>
                <a:ea typeface="Source Sans 3" pitchFamily="34" charset="-122"/>
                <a:cs typeface="Source Sans 3" pitchFamily="34" charset="-120"/>
              </a:rPr>
              <a:t>Initialize singleton StockMarket with 15 preloaded NSE stocks and random price generation</a:t>
            </a:r>
            <a:endParaRPr lang="en-US" sz="1450" dirty="0"/>
          </a:p>
        </p:txBody>
      </p:sp>
      <p:pic>
        <p:nvPicPr>
          <p:cNvPr id="7" name="Image 1" descr="preencoded.png">    </p:cNvPr>
          <p:cNvPicPr>
            <a:picLocks noChangeAspect="1"/>
          </p:cNvPicPr>
          <p:nvPr/>
        </p:nvPicPr>
        <p:blipFill>
          <a:blip r:embed="rId2"/>
          <a:stretch>
            <a:fillRect/>
          </a:stretch>
        </p:blipFill>
        <p:spPr>
          <a:xfrm>
            <a:off x="756642" y="3137178"/>
            <a:ext cx="945833" cy="1135023"/>
          </a:xfrm>
          <a:prstGeom prst="rect">
            <a:avLst/>
          </a:prstGeom>
        </p:spPr>
      </p:pic>
      <p:sp>
        <p:nvSpPr>
          <p:cNvPr id="8" name="Text 4"/>
          <p:cNvSpPr/>
          <p:nvPr/>
        </p:nvSpPr>
        <p:spPr>
          <a:xfrm>
            <a:off x="1882735" y="3326249"/>
            <a:ext cx="2364581" cy="295513"/>
          </a:xfrm>
          <a:prstGeom prst="rect">
            <a:avLst/>
          </a:prstGeom>
          <a:noFill/>
          <a:ln/>
        </p:spPr>
        <p:txBody>
          <a:bodyPr wrap="none" lIns="0" tIns="0" rIns="0" bIns="0" rtlCol="0" anchor="t"/>
          <a:lstStyle/>
          <a:p>
            <a:pPr algn="l" indent="0" marL="0">
              <a:lnSpc>
                <a:spcPts val="2300"/>
              </a:lnSpc>
              <a:buNone/>
            </a:pPr>
            <a:r>
              <a:rPr lang="en-US" sz="1850" dirty="0">
                <a:solidFill>
                  <a:srgbClr val="2B4150"/>
                </a:solidFill>
                <a:latin typeface="MuseoModerno Medium" pitchFamily="34" charset="0"/>
                <a:ea typeface="MuseoModerno Medium" pitchFamily="34" charset="-122"/>
                <a:cs typeface="MuseoModerno Medium" pitchFamily="34" charset="-120"/>
              </a:rPr>
              <a:t>Market View</a:t>
            </a:r>
            <a:endParaRPr lang="en-US" sz="1850" dirty="0"/>
          </a:p>
        </p:txBody>
      </p:sp>
      <p:sp>
        <p:nvSpPr>
          <p:cNvPr id="9" name="Text 5"/>
          <p:cNvSpPr/>
          <p:nvPr/>
        </p:nvSpPr>
        <p:spPr>
          <a:xfrm>
            <a:off x="1882735" y="3729871"/>
            <a:ext cx="11991023" cy="295513"/>
          </a:xfrm>
          <a:prstGeom prst="rect">
            <a:avLst/>
          </a:prstGeom>
          <a:noFill/>
          <a:ln/>
        </p:spPr>
        <p:txBody>
          <a:bodyPr wrap="none" lIns="0" tIns="0" rIns="0" bIns="0" rtlCol="0" anchor="t"/>
          <a:lstStyle/>
          <a:p>
            <a:pPr algn="l" indent="0" marL="0">
              <a:lnSpc>
                <a:spcPts val="2300"/>
              </a:lnSpc>
              <a:buNone/>
            </a:pPr>
            <a:r>
              <a:rPr lang="en-US" sz="1450" dirty="0">
                <a:solidFill>
                  <a:srgbClr val="2B4150"/>
                </a:solidFill>
                <a:latin typeface="Source Sans 3" pitchFamily="34" charset="0"/>
                <a:ea typeface="Source Sans 3" pitchFamily="34" charset="-122"/>
                <a:cs typeface="Source Sans 3" pitchFamily="34" charset="-120"/>
              </a:rPr>
              <a:t>Display current market prices, price changes, and available trading options</a:t>
            </a:r>
            <a:endParaRPr lang="en-US" sz="1450" dirty="0"/>
          </a:p>
        </p:txBody>
      </p:sp>
      <p:pic>
        <p:nvPicPr>
          <p:cNvPr id="10" name="Image 2" descr="preencoded.png">    </p:cNvPr>
          <p:cNvPicPr>
            <a:picLocks noChangeAspect="1"/>
          </p:cNvPicPr>
          <p:nvPr/>
        </p:nvPicPr>
        <p:blipFill>
          <a:blip r:embed="rId3"/>
          <a:stretch>
            <a:fillRect/>
          </a:stretch>
        </p:blipFill>
        <p:spPr>
          <a:xfrm>
            <a:off x="756642" y="4272201"/>
            <a:ext cx="945833" cy="1135023"/>
          </a:xfrm>
          <a:prstGeom prst="rect">
            <a:avLst/>
          </a:prstGeom>
        </p:spPr>
      </p:pic>
      <p:sp>
        <p:nvSpPr>
          <p:cNvPr id="11" name="Text 6"/>
          <p:cNvSpPr/>
          <p:nvPr/>
        </p:nvSpPr>
        <p:spPr>
          <a:xfrm>
            <a:off x="1882735" y="4461272"/>
            <a:ext cx="2364581" cy="295513"/>
          </a:xfrm>
          <a:prstGeom prst="rect">
            <a:avLst/>
          </a:prstGeom>
          <a:noFill/>
          <a:ln/>
        </p:spPr>
        <p:txBody>
          <a:bodyPr wrap="none" lIns="0" tIns="0" rIns="0" bIns="0" rtlCol="0" anchor="t"/>
          <a:lstStyle/>
          <a:p>
            <a:pPr algn="l" indent="0" marL="0">
              <a:lnSpc>
                <a:spcPts val="2300"/>
              </a:lnSpc>
              <a:buNone/>
            </a:pPr>
            <a:r>
              <a:rPr lang="en-US" sz="1850" dirty="0">
                <a:solidFill>
                  <a:srgbClr val="2B4150"/>
                </a:solidFill>
                <a:latin typeface="MuseoModerno Medium" pitchFamily="34" charset="0"/>
                <a:ea typeface="MuseoModerno Medium" pitchFamily="34" charset="-122"/>
                <a:cs typeface="MuseoModerno Medium" pitchFamily="34" charset="-120"/>
              </a:rPr>
              <a:t>Execute Trades</a:t>
            </a:r>
            <a:endParaRPr lang="en-US" sz="1850" dirty="0"/>
          </a:p>
        </p:txBody>
      </p:sp>
      <p:sp>
        <p:nvSpPr>
          <p:cNvPr id="12" name="Text 7"/>
          <p:cNvSpPr/>
          <p:nvPr/>
        </p:nvSpPr>
        <p:spPr>
          <a:xfrm>
            <a:off x="1882735" y="4864894"/>
            <a:ext cx="11991023" cy="295513"/>
          </a:xfrm>
          <a:prstGeom prst="rect">
            <a:avLst/>
          </a:prstGeom>
          <a:noFill/>
          <a:ln/>
        </p:spPr>
        <p:txBody>
          <a:bodyPr wrap="none" lIns="0" tIns="0" rIns="0" bIns="0" rtlCol="0" anchor="t"/>
          <a:lstStyle/>
          <a:p>
            <a:pPr algn="l" indent="0" marL="0">
              <a:lnSpc>
                <a:spcPts val="2300"/>
              </a:lnSpc>
              <a:buNone/>
            </a:pPr>
            <a:r>
              <a:rPr lang="en-US" sz="1450" dirty="0">
                <a:solidFill>
                  <a:srgbClr val="2B4150"/>
                </a:solidFill>
                <a:latin typeface="Source Sans 3" pitchFamily="34" charset="0"/>
                <a:ea typeface="Source Sans 3" pitchFamily="34" charset="-122"/>
                <a:cs typeface="Source Sans 3" pitchFamily="34" charset="-120"/>
              </a:rPr>
              <a:t>Process buy/sell requests with validation, update portfolio holdings, and record transactions</a:t>
            </a:r>
            <a:endParaRPr lang="en-US" sz="1450" dirty="0"/>
          </a:p>
        </p:txBody>
      </p:sp>
      <p:pic>
        <p:nvPicPr>
          <p:cNvPr id="13" name="Image 3" descr="preencoded.png">    </p:cNvPr>
          <p:cNvPicPr>
            <a:picLocks noChangeAspect="1"/>
          </p:cNvPicPr>
          <p:nvPr/>
        </p:nvPicPr>
        <p:blipFill>
          <a:blip r:embed="rId4"/>
          <a:stretch>
            <a:fillRect/>
          </a:stretch>
        </p:blipFill>
        <p:spPr>
          <a:xfrm>
            <a:off x="756642" y="5407223"/>
            <a:ext cx="945833" cy="1135023"/>
          </a:xfrm>
          <a:prstGeom prst="rect">
            <a:avLst/>
          </a:prstGeom>
        </p:spPr>
      </p:pic>
      <p:sp>
        <p:nvSpPr>
          <p:cNvPr id="14" name="Text 8"/>
          <p:cNvSpPr/>
          <p:nvPr/>
        </p:nvSpPr>
        <p:spPr>
          <a:xfrm>
            <a:off x="1882735" y="5596295"/>
            <a:ext cx="2364581" cy="295513"/>
          </a:xfrm>
          <a:prstGeom prst="rect">
            <a:avLst/>
          </a:prstGeom>
          <a:noFill/>
          <a:ln/>
        </p:spPr>
        <p:txBody>
          <a:bodyPr wrap="none" lIns="0" tIns="0" rIns="0" bIns="0" rtlCol="0" anchor="t"/>
          <a:lstStyle/>
          <a:p>
            <a:pPr algn="l" indent="0" marL="0">
              <a:lnSpc>
                <a:spcPts val="2300"/>
              </a:lnSpc>
              <a:buNone/>
            </a:pPr>
            <a:r>
              <a:rPr lang="en-US" sz="1850" dirty="0">
                <a:solidFill>
                  <a:srgbClr val="2B4150"/>
                </a:solidFill>
                <a:latin typeface="MuseoModerno Medium" pitchFamily="34" charset="0"/>
                <a:ea typeface="MuseoModerno Medium" pitchFamily="34" charset="-122"/>
                <a:cs typeface="MuseoModerno Medium" pitchFamily="34" charset="-120"/>
              </a:rPr>
              <a:t>Portfolio Analysis</a:t>
            </a:r>
            <a:endParaRPr lang="en-US" sz="1850" dirty="0"/>
          </a:p>
        </p:txBody>
      </p:sp>
      <p:sp>
        <p:nvSpPr>
          <p:cNvPr id="15" name="Text 9"/>
          <p:cNvSpPr/>
          <p:nvPr/>
        </p:nvSpPr>
        <p:spPr>
          <a:xfrm>
            <a:off x="1882735" y="5999917"/>
            <a:ext cx="11991023" cy="295513"/>
          </a:xfrm>
          <a:prstGeom prst="rect">
            <a:avLst/>
          </a:prstGeom>
          <a:noFill/>
          <a:ln/>
        </p:spPr>
        <p:txBody>
          <a:bodyPr wrap="none" lIns="0" tIns="0" rIns="0" bIns="0" rtlCol="0" anchor="t"/>
          <a:lstStyle/>
          <a:p>
            <a:pPr algn="l" indent="0" marL="0">
              <a:lnSpc>
                <a:spcPts val="2300"/>
              </a:lnSpc>
              <a:buNone/>
            </a:pPr>
            <a:r>
              <a:rPr lang="en-US" sz="1450" dirty="0">
                <a:solidFill>
                  <a:srgbClr val="2B4150"/>
                </a:solidFill>
                <a:latin typeface="Source Sans 3" pitchFamily="34" charset="0"/>
                <a:ea typeface="Source Sans 3" pitchFamily="34" charset="-122"/>
                <a:cs typeface="Source Sans 3" pitchFamily="34" charset="-120"/>
              </a:rPr>
              <a:t>Calculate current portfolio value, profit/loss, and performance metrics</a:t>
            </a:r>
            <a:endParaRPr lang="en-US" sz="1450" dirty="0"/>
          </a:p>
        </p:txBody>
      </p:sp>
      <p:pic>
        <p:nvPicPr>
          <p:cNvPr id="16" name="Image 4" descr="preencoded.png">    </p:cNvPr>
          <p:cNvPicPr>
            <a:picLocks noChangeAspect="1"/>
          </p:cNvPicPr>
          <p:nvPr/>
        </p:nvPicPr>
        <p:blipFill>
          <a:blip r:embed="rId5"/>
          <a:stretch>
            <a:fillRect/>
          </a:stretch>
        </p:blipFill>
        <p:spPr>
          <a:xfrm>
            <a:off x="756642" y="6542246"/>
            <a:ext cx="945833" cy="1135023"/>
          </a:xfrm>
          <a:prstGeom prst="rect">
            <a:avLst/>
          </a:prstGeom>
        </p:spPr>
      </p:pic>
      <p:sp>
        <p:nvSpPr>
          <p:cNvPr id="17" name="Text 10"/>
          <p:cNvSpPr/>
          <p:nvPr/>
        </p:nvSpPr>
        <p:spPr>
          <a:xfrm>
            <a:off x="1882735" y="6731318"/>
            <a:ext cx="2364581" cy="295513"/>
          </a:xfrm>
          <a:prstGeom prst="rect">
            <a:avLst/>
          </a:prstGeom>
          <a:noFill/>
          <a:ln/>
        </p:spPr>
        <p:txBody>
          <a:bodyPr wrap="none" lIns="0" tIns="0" rIns="0" bIns="0" rtlCol="0" anchor="t"/>
          <a:lstStyle/>
          <a:p>
            <a:pPr algn="l" indent="0" marL="0">
              <a:lnSpc>
                <a:spcPts val="2300"/>
              </a:lnSpc>
              <a:buNone/>
            </a:pPr>
            <a:r>
              <a:rPr lang="en-US" sz="1850" dirty="0">
                <a:solidFill>
                  <a:srgbClr val="2B4150"/>
                </a:solidFill>
                <a:latin typeface="MuseoModerno Medium" pitchFamily="34" charset="0"/>
                <a:ea typeface="MuseoModerno Medium" pitchFamily="34" charset="-122"/>
                <a:cs typeface="MuseoModerno Medium" pitchFamily="34" charset="-120"/>
              </a:rPr>
              <a:t>Generate Reports</a:t>
            </a:r>
            <a:endParaRPr lang="en-US" sz="1850" dirty="0"/>
          </a:p>
        </p:txBody>
      </p:sp>
      <p:sp>
        <p:nvSpPr>
          <p:cNvPr id="18" name="Text 11"/>
          <p:cNvSpPr/>
          <p:nvPr/>
        </p:nvSpPr>
        <p:spPr>
          <a:xfrm>
            <a:off x="1882735" y="7134939"/>
            <a:ext cx="11991023" cy="295513"/>
          </a:xfrm>
          <a:prstGeom prst="rect">
            <a:avLst/>
          </a:prstGeom>
          <a:noFill/>
          <a:ln/>
        </p:spPr>
        <p:txBody>
          <a:bodyPr wrap="none" lIns="0" tIns="0" rIns="0" bIns="0" rtlCol="0" anchor="t"/>
          <a:lstStyle/>
          <a:p>
            <a:pPr algn="l" indent="0" marL="0">
              <a:lnSpc>
                <a:spcPts val="2300"/>
              </a:lnSpc>
              <a:buNone/>
            </a:pPr>
            <a:r>
              <a:rPr lang="en-US" sz="1450" dirty="0">
                <a:solidFill>
                  <a:srgbClr val="2B4150"/>
                </a:solidFill>
                <a:latin typeface="Source Sans 3" pitchFamily="34" charset="0"/>
                <a:ea typeface="Source Sans 3" pitchFamily="34" charset="-122"/>
                <a:cs typeface="Source Sans 3" pitchFamily="34" charset="-120"/>
              </a:rPr>
              <a:t>Create detailed reports using strategy pattern with different formatting options</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06993" y="549831"/>
            <a:ext cx="4936688" cy="552450"/>
          </a:xfrm>
          <a:prstGeom prst="rect">
            <a:avLst/>
          </a:prstGeom>
          <a:noFill/>
          <a:ln/>
        </p:spPr>
        <p:txBody>
          <a:bodyPr wrap="none" lIns="0" tIns="0" rIns="0" bIns="0" rtlCol="0" anchor="t"/>
          <a:lstStyle/>
          <a:p>
            <a:pPr algn="l" indent="0" marL="0">
              <a:lnSpc>
                <a:spcPts val="4300"/>
              </a:lnSpc>
              <a:buNone/>
            </a:pPr>
            <a:r>
              <a:rPr lang="en-US" sz="3450" dirty="0">
                <a:solidFill>
                  <a:srgbClr val="124E73"/>
                </a:solidFill>
                <a:latin typeface="MuseoModerno Medium" pitchFamily="34" charset="0"/>
                <a:ea typeface="MuseoModerno Medium" pitchFamily="34" charset="-122"/>
                <a:cs typeface="MuseoModerno Medium" pitchFamily="34" charset="-120"/>
              </a:rPr>
              <a:t>Technical Specifications</a:t>
            </a:r>
            <a:endParaRPr lang="en-US" sz="34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6993" y="1537454"/>
            <a:ext cx="176689" cy="176689"/>
          </a:xfrm>
          <a:prstGeom prst="rect">
            <a:avLst/>
          </a:prstGeom>
        </p:spPr>
      </p:pic>
      <p:sp>
        <p:nvSpPr>
          <p:cNvPr id="4" name="Shape 1"/>
          <p:cNvSpPr/>
          <p:nvPr/>
        </p:nvSpPr>
        <p:spPr>
          <a:xfrm>
            <a:off x="706993" y="1792843"/>
            <a:ext cx="7757279" cy="22860"/>
          </a:xfrm>
          <a:prstGeom prst="rect">
            <a:avLst/>
          </a:prstGeom>
          <a:solidFill>
            <a:srgbClr val="325F7B"/>
          </a:solidFill>
          <a:ln/>
        </p:spPr>
      </p:sp>
      <p:sp>
        <p:nvSpPr>
          <p:cNvPr id="5" name="Text 2"/>
          <p:cNvSpPr/>
          <p:nvPr/>
        </p:nvSpPr>
        <p:spPr>
          <a:xfrm>
            <a:off x="706993" y="1926907"/>
            <a:ext cx="2320647" cy="276225"/>
          </a:xfrm>
          <a:prstGeom prst="rect">
            <a:avLst/>
          </a:prstGeom>
          <a:noFill/>
          <a:ln/>
        </p:spPr>
        <p:txBody>
          <a:bodyPr wrap="none" lIns="0" tIns="0" rIns="0" bIns="0" rtlCol="0" anchor="t"/>
          <a:lstStyle/>
          <a:p>
            <a:pPr algn="l" indent="0" marL="0">
              <a:lnSpc>
                <a:spcPts val="2150"/>
              </a:lnSpc>
              <a:buNone/>
            </a:pPr>
            <a:r>
              <a:rPr lang="en-US" sz="1700" dirty="0">
                <a:solidFill>
                  <a:srgbClr val="2B4150"/>
                </a:solidFill>
                <a:latin typeface="MuseoModerno Medium" pitchFamily="34" charset="0"/>
                <a:ea typeface="MuseoModerno Medium" pitchFamily="34" charset="-122"/>
                <a:cs typeface="MuseoModerno Medium" pitchFamily="34" charset="-120"/>
              </a:rPr>
              <a:t>Java Implementation</a:t>
            </a:r>
            <a:endParaRPr lang="en-US" sz="1700" dirty="0"/>
          </a:p>
        </p:txBody>
      </p:sp>
      <p:sp>
        <p:nvSpPr>
          <p:cNvPr id="6" name="Text 3"/>
          <p:cNvSpPr/>
          <p:nvPr/>
        </p:nvSpPr>
        <p:spPr>
          <a:xfrm>
            <a:off x="706993" y="2360533"/>
            <a:ext cx="7757279" cy="534829"/>
          </a:xfrm>
          <a:prstGeom prst="rect">
            <a:avLst/>
          </a:prstGeom>
          <a:noFill/>
          <a:ln/>
        </p:spPr>
        <p:txBody>
          <a:bodyPr wrap="square" lIns="0" tIns="0" rIns="0" bIns="0" rtlCol="0" anchor="t"/>
          <a:lstStyle/>
          <a:p>
            <a:pPr algn="l" indent="0" marL="0">
              <a:lnSpc>
                <a:spcPts val="2100"/>
              </a:lnSpc>
              <a:buNone/>
            </a:pPr>
            <a:r>
              <a:rPr lang="en-US" sz="1350" dirty="0">
                <a:solidFill>
                  <a:srgbClr val="2B4150"/>
                </a:solidFill>
                <a:latin typeface="Source Sans 3" pitchFamily="34" charset="0"/>
                <a:ea typeface="Source Sans 3" pitchFamily="34" charset="-122"/>
                <a:cs typeface="Source Sans 3" pitchFamily="34" charset="-120"/>
              </a:rPr>
              <a:t>Built with JDK 8+ featuring modern language features and robust object-oriented programming constructs</a:t>
            </a:r>
            <a:endParaRPr lang="en-US" sz="13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6993" y="3207306"/>
            <a:ext cx="176689" cy="176689"/>
          </a:xfrm>
          <a:prstGeom prst="rect">
            <a:avLst/>
          </a:prstGeom>
        </p:spPr>
      </p:pic>
      <p:sp>
        <p:nvSpPr>
          <p:cNvPr id="8" name="Shape 4"/>
          <p:cNvSpPr/>
          <p:nvPr/>
        </p:nvSpPr>
        <p:spPr>
          <a:xfrm>
            <a:off x="706993" y="3462695"/>
            <a:ext cx="7757279" cy="22860"/>
          </a:xfrm>
          <a:prstGeom prst="rect">
            <a:avLst/>
          </a:prstGeom>
          <a:solidFill>
            <a:srgbClr val="325F7B"/>
          </a:solidFill>
          <a:ln/>
        </p:spPr>
      </p:sp>
      <p:sp>
        <p:nvSpPr>
          <p:cNvPr id="9" name="Text 5"/>
          <p:cNvSpPr/>
          <p:nvPr/>
        </p:nvSpPr>
        <p:spPr>
          <a:xfrm>
            <a:off x="706993" y="3596759"/>
            <a:ext cx="2209562" cy="276225"/>
          </a:xfrm>
          <a:prstGeom prst="rect">
            <a:avLst/>
          </a:prstGeom>
          <a:noFill/>
          <a:ln/>
        </p:spPr>
        <p:txBody>
          <a:bodyPr wrap="none" lIns="0" tIns="0" rIns="0" bIns="0" rtlCol="0" anchor="t"/>
          <a:lstStyle/>
          <a:p>
            <a:pPr algn="l" indent="0" marL="0">
              <a:lnSpc>
                <a:spcPts val="2150"/>
              </a:lnSpc>
              <a:buNone/>
            </a:pPr>
            <a:r>
              <a:rPr lang="en-US" sz="1700" dirty="0">
                <a:solidFill>
                  <a:srgbClr val="2B4150"/>
                </a:solidFill>
                <a:latin typeface="MuseoModerno Medium" pitchFamily="34" charset="0"/>
                <a:ea typeface="MuseoModerno Medium" pitchFamily="34" charset="-122"/>
                <a:cs typeface="MuseoModerno Medium" pitchFamily="34" charset="-120"/>
              </a:rPr>
              <a:t>OOP Principles</a:t>
            </a:r>
            <a:endParaRPr lang="en-US" sz="1700" dirty="0"/>
          </a:p>
        </p:txBody>
      </p:sp>
      <p:sp>
        <p:nvSpPr>
          <p:cNvPr id="10" name="Text 6"/>
          <p:cNvSpPr/>
          <p:nvPr/>
        </p:nvSpPr>
        <p:spPr>
          <a:xfrm>
            <a:off x="706993" y="4030385"/>
            <a:ext cx="7757279" cy="534829"/>
          </a:xfrm>
          <a:prstGeom prst="rect">
            <a:avLst/>
          </a:prstGeom>
          <a:noFill/>
          <a:ln/>
        </p:spPr>
        <p:txBody>
          <a:bodyPr wrap="square" lIns="0" tIns="0" rIns="0" bIns="0" rtlCol="0" anchor="t"/>
          <a:lstStyle/>
          <a:p>
            <a:pPr algn="l" indent="0" marL="0">
              <a:lnSpc>
                <a:spcPts val="2100"/>
              </a:lnSpc>
              <a:buNone/>
            </a:pPr>
            <a:r>
              <a:rPr lang="en-US" sz="1350" dirty="0">
                <a:solidFill>
                  <a:srgbClr val="2B4150"/>
                </a:solidFill>
                <a:latin typeface="Source Sans 3" pitchFamily="34" charset="0"/>
                <a:ea typeface="Source Sans 3" pitchFamily="34" charset="-122"/>
                <a:cs typeface="Source Sans 3" pitchFamily="34" charset="-120"/>
              </a:rPr>
              <a:t>Full implementation of encapsulation, inheritance, polymorphism, and abstraction demonstrating proper class design</a:t>
            </a:r>
            <a:endParaRPr lang="en-US" sz="13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6993" y="4877157"/>
            <a:ext cx="176689" cy="176689"/>
          </a:xfrm>
          <a:prstGeom prst="rect">
            <a:avLst/>
          </a:prstGeom>
        </p:spPr>
      </p:pic>
      <p:sp>
        <p:nvSpPr>
          <p:cNvPr id="12" name="Shape 7"/>
          <p:cNvSpPr/>
          <p:nvPr/>
        </p:nvSpPr>
        <p:spPr>
          <a:xfrm>
            <a:off x="706993" y="5132546"/>
            <a:ext cx="7757279" cy="22860"/>
          </a:xfrm>
          <a:prstGeom prst="rect">
            <a:avLst/>
          </a:prstGeom>
          <a:solidFill>
            <a:srgbClr val="325F7B"/>
          </a:solidFill>
          <a:ln/>
        </p:spPr>
      </p:sp>
      <p:sp>
        <p:nvSpPr>
          <p:cNvPr id="13" name="Text 8"/>
          <p:cNvSpPr/>
          <p:nvPr/>
        </p:nvSpPr>
        <p:spPr>
          <a:xfrm>
            <a:off x="706993" y="5266611"/>
            <a:ext cx="2209562" cy="276225"/>
          </a:xfrm>
          <a:prstGeom prst="rect">
            <a:avLst/>
          </a:prstGeom>
          <a:noFill/>
          <a:ln/>
        </p:spPr>
        <p:txBody>
          <a:bodyPr wrap="none" lIns="0" tIns="0" rIns="0" bIns="0" rtlCol="0" anchor="t"/>
          <a:lstStyle/>
          <a:p>
            <a:pPr algn="l" indent="0" marL="0">
              <a:lnSpc>
                <a:spcPts val="2150"/>
              </a:lnSpc>
              <a:buNone/>
            </a:pPr>
            <a:r>
              <a:rPr lang="en-US" sz="1700" dirty="0">
                <a:solidFill>
                  <a:srgbClr val="2B4150"/>
                </a:solidFill>
                <a:latin typeface="MuseoModerno Medium" pitchFamily="34" charset="0"/>
                <a:ea typeface="MuseoModerno Medium" pitchFamily="34" charset="-122"/>
                <a:cs typeface="MuseoModerno Medium" pitchFamily="34" charset="-120"/>
              </a:rPr>
              <a:t>NSE Integration</a:t>
            </a:r>
            <a:endParaRPr lang="en-US" sz="1700" dirty="0"/>
          </a:p>
        </p:txBody>
      </p:sp>
      <p:sp>
        <p:nvSpPr>
          <p:cNvPr id="14" name="Text 9"/>
          <p:cNvSpPr/>
          <p:nvPr/>
        </p:nvSpPr>
        <p:spPr>
          <a:xfrm>
            <a:off x="706993" y="5700236"/>
            <a:ext cx="7757279" cy="267414"/>
          </a:xfrm>
          <a:prstGeom prst="rect">
            <a:avLst/>
          </a:prstGeom>
          <a:noFill/>
          <a:ln/>
        </p:spPr>
        <p:txBody>
          <a:bodyPr wrap="none" lIns="0" tIns="0" rIns="0" bIns="0" rtlCol="0" anchor="t"/>
          <a:lstStyle/>
          <a:p>
            <a:pPr algn="l" indent="0" marL="0">
              <a:lnSpc>
                <a:spcPts val="2100"/>
              </a:lnSpc>
              <a:buNone/>
            </a:pPr>
            <a:r>
              <a:rPr lang="en-US" sz="1350" dirty="0">
                <a:solidFill>
                  <a:srgbClr val="2B4150"/>
                </a:solidFill>
                <a:latin typeface="Source Sans 3" pitchFamily="34" charset="0"/>
                <a:ea typeface="Source Sans 3" pitchFamily="34" charset="-122"/>
                <a:cs typeface="Source Sans 3" pitchFamily="34" charset="-120"/>
              </a:rPr>
              <a:t>15 preloaded stocks from National Stock Exchange with realistic price simulation algorithms</a:t>
            </a:r>
            <a:endParaRPr lang="en-US" sz="13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6993" y="6279594"/>
            <a:ext cx="176689" cy="176689"/>
          </a:xfrm>
          <a:prstGeom prst="rect">
            <a:avLst/>
          </a:prstGeom>
        </p:spPr>
      </p:pic>
      <p:sp>
        <p:nvSpPr>
          <p:cNvPr id="16" name="Shape 10"/>
          <p:cNvSpPr/>
          <p:nvPr/>
        </p:nvSpPr>
        <p:spPr>
          <a:xfrm>
            <a:off x="706993" y="6534983"/>
            <a:ext cx="7757279" cy="22860"/>
          </a:xfrm>
          <a:prstGeom prst="rect">
            <a:avLst/>
          </a:prstGeom>
          <a:solidFill>
            <a:srgbClr val="325F7B"/>
          </a:solidFill>
          <a:ln/>
        </p:spPr>
      </p:sp>
      <p:sp>
        <p:nvSpPr>
          <p:cNvPr id="17" name="Text 11"/>
          <p:cNvSpPr/>
          <p:nvPr/>
        </p:nvSpPr>
        <p:spPr>
          <a:xfrm>
            <a:off x="706993" y="6669048"/>
            <a:ext cx="2209562" cy="276225"/>
          </a:xfrm>
          <a:prstGeom prst="rect">
            <a:avLst/>
          </a:prstGeom>
          <a:noFill/>
          <a:ln/>
        </p:spPr>
        <p:txBody>
          <a:bodyPr wrap="none" lIns="0" tIns="0" rIns="0" bIns="0" rtlCol="0" anchor="t"/>
          <a:lstStyle/>
          <a:p>
            <a:pPr algn="l" indent="0" marL="0">
              <a:lnSpc>
                <a:spcPts val="2150"/>
              </a:lnSpc>
              <a:buNone/>
            </a:pPr>
            <a:r>
              <a:rPr lang="en-US" sz="1700" dirty="0">
                <a:solidFill>
                  <a:srgbClr val="2B4150"/>
                </a:solidFill>
                <a:latin typeface="MuseoModerno Medium" pitchFamily="34" charset="0"/>
                <a:ea typeface="MuseoModerno Medium" pitchFamily="34" charset="-122"/>
                <a:cs typeface="MuseoModerno Medium" pitchFamily="34" charset="-120"/>
              </a:rPr>
              <a:t>Console Interface</a:t>
            </a:r>
            <a:endParaRPr lang="en-US" sz="1700" dirty="0"/>
          </a:p>
        </p:txBody>
      </p:sp>
      <p:sp>
        <p:nvSpPr>
          <p:cNvPr id="18" name="Text 12"/>
          <p:cNvSpPr/>
          <p:nvPr/>
        </p:nvSpPr>
        <p:spPr>
          <a:xfrm>
            <a:off x="706993" y="7102673"/>
            <a:ext cx="7757279" cy="267414"/>
          </a:xfrm>
          <a:prstGeom prst="rect">
            <a:avLst/>
          </a:prstGeom>
          <a:noFill/>
          <a:ln/>
        </p:spPr>
        <p:txBody>
          <a:bodyPr wrap="none" lIns="0" tIns="0" rIns="0" bIns="0" rtlCol="0" anchor="t"/>
          <a:lstStyle/>
          <a:p>
            <a:pPr algn="l" indent="0" marL="0">
              <a:lnSpc>
                <a:spcPts val="2100"/>
              </a:lnSpc>
              <a:buNone/>
            </a:pPr>
            <a:r>
              <a:rPr lang="en-US" sz="1350" dirty="0">
                <a:solidFill>
                  <a:srgbClr val="2B4150"/>
                </a:solidFill>
                <a:latin typeface="Source Sans 3" pitchFamily="34" charset="0"/>
                <a:ea typeface="Source Sans 3" pitchFamily="34" charset="-122"/>
                <a:cs typeface="Source Sans 3" pitchFamily="34" charset="-120"/>
              </a:rPr>
              <a:t>Text-based user interface providing efficient command-line operations for portfolio management</a:t>
            </a:r>
            <a:endParaRPr lang="en-US" sz="1350" dirty="0"/>
          </a:p>
        </p:txBody>
      </p:sp>
      <p:sp>
        <p:nvSpPr>
          <p:cNvPr id="19" name="Shape 13"/>
          <p:cNvSpPr/>
          <p:nvPr/>
        </p:nvSpPr>
        <p:spPr>
          <a:xfrm>
            <a:off x="8775859" y="1338382"/>
            <a:ext cx="5282327" cy="6341269"/>
          </a:xfrm>
          <a:prstGeom prst="roundRect">
            <a:avLst>
              <a:gd name="adj" fmla="val 502"/>
            </a:avLst>
          </a:prstGeom>
          <a:solidFill>
            <a:srgbClr val="325F7B"/>
          </a:solidFill>
          <a:ln/>
        </p:spPr>
      </p:sp>
      <p:sp>
        <p:nvSpPr>
          <p:cNvPr id="20" name="Text 14"/>
          <p:cNvSpPr/>
          <p:nvPr/>
        </p:nvSpPr>
        <p:spPr>
          <a:xfrm>
            <a:off x="8952548" y="1495782"/>
            <a:ext cx="2209562" cy="276225"/>
          </a:xfrm>
          <a:prstGeom prst="rect">
            <a:avLst/>
          </a:prstGeom>
          <a:noFill/>
          <a:ln/>
        </p:spPr>
        <p:txBody>
          <a:bodyPr wrap="none" lIns="0" tIns="0" rIns="0" bIns="0" rtlCol="0" anchor="t"/>
          <a:lstStyle/>
          <a:p>
            <a:pPr algn="l" indent="0" marL="0">
              <a:lnSpc>
                <a:spcPts val="2150"/>
              </a:lnSpc>
              <a:buNone/>
            </a:pPr>
            <a:r>
              <a:rPr lang="en-US" sz="1700" dirty="0">
                <a:solidFill>
                  <a:srgbClr val="FFFFFF"/>
                </a:solidFill>
                <a:latin typeface="MuseoModerno Medium" pitchFamily="34" charset="0"/>
                <a:ea typeface="MuseoModerno Medium" pitchFamily="34" charset="-122"/>
                <a:cs typeface="MuseoModerno Medium" pitchFamily="34" charset="-120"/>
              </a:rPr>
              <a:t>Key Highlights</a:t>
            </a:r>
            <a:endParaRPr lang="en-US" sz="1700" dirty="0"/>
          </a:p>
        </p:txBody>
      </p:sp>
      <p:sp>
        <p:nvSpPr>
          <p:cNvPr id="21" name="Text 15"/>
          <p:cNvSpPr/>
          <p:nvPr/>
        </p:nvSpPr>
        <p:spPr>
          <a:xfrm>
            <a:off x="8952548" y="1929408"/>
            <a:ext cx="4928949" cy="1879521"/>
          </a:xfrm>
          <a:prstGeom prst="rect">
            <a:avLst/>
          </a:prstGeom>
          <a:noFill/>
          <a:ln/>
        </p:spPr>
        <p:txBody>
          <a:bodyPr wrap="square" lIns="0" tIns="0" rIns="0" bIns="0" rtlCol="0" anchor="t"/>
          <a:lstStyle/>
          <a:p>
            <a:pPr algn="l" marL="342900" indent="-342900">
              <a:lnSpc>
                <a:spcPts val="2100"/>
              </a:lnSpc>
              <a:buSzPct val="100000"/>
              <a:buChar char="•"/>
            </a:pPr>
            <a:r>
              <a:rPr lang="en-US" sz="1350" dirty="0">
                <a:solidFill>
                  <a:srgbClr val="FFFFFF"/>
                </a:solidFill>
                <a:latin typeface="Source Sans 3" pitchFamily="34" charset="0"/>
                <a:ea typeface="Source Sans 3" pitchFamily="34" charset="-122"/>
                <a:cs typeface="Source Sans 3" pitchFamily="34" charset="-120"/>
              </a:rPr>
              <a:t>Clean separation of concerns</a:t>
            </a:r>
            <a:endParaRPr lang="en-US" sz="1350" dirty="0"/>
          </a:p>
          <a:p>
            <a:pPr algn="l" marL="342900" indent="-342900">
              <a:lnSpc>
                <a:spcPts val="2100"/>
              </a:lnSpc>
              <a:buSzPct val="100000"/>
              <a:buChar char="•"/>
            </a:pPr>
            <a:r>
              <a:rPr lang="en-US" sz="1350" dirty="0">
                <a:solidFill>
                  <a:srgbClr val="FFFFFF"/>
                </a:solidFill>
                <a:latin typeface="Source Sans 3" pitchFamily="34" charset="0"/>
                <a:ea typeface="Source Sans 3" pitchFamily="34" charset="-122"/>
                <a:cs typeface="Source Sans 3" pitchFamily="34" charset="-120"/>
              </a:rPr>
              <a:t>Scalable architecture</a:t>
            </a:r>
            <a:endParaRPr lang="en-US" sz="1350" dirty="0"/>
          </a:p>
          <a:p>
            <a:pPr algn="l" marL="342900" indent="-342900">
              <a:lnSpc>
                <a:spcPts val="2100"/>
              </a:lnSpc>
              <a:buSzPct val="100000"/>
              <a:buChar char="•"/>
            </a:pPr>
            <a:r>
              <a:rPr lang="en-US" sz="1350" dirty="0">
                <a:solidFill>
                  <a:srgbClr val="FFFFFF"/>
                </a:solidFill>
                <a:latin typeface="Source Sans 3" pitchFamily="34" charset="0"/>
                <a:ea typeface="Source Sans 3" pitchFamily="34" charset="-122"/>
                <a:cs typeface="Source Sans 3" pitchFamily="34" charset="-120"/>
              </a:rPr>
              <a:t>Real-time price simulation</a:t>
            </a:r>
            <a:endParaRPr lang="en-US" sz="1350" dirty="0"/>
          </a:p>
          <a:p>
            <a:pPr algn="l" marL="342900" indent="-342900">
              <a:lnSpc>
                <a:spcPts val="2100"/>
              </a:lnSpc>
              <a:buSzPct val="100000"/>
              <a:buChar char="•"/>
            </a:pPr>
            <a:r>
              <a:rPr lang="en-US" sz="1350" dirty="0">
                <a:solidFill>
                  <a:srgbClr val="FFFFFF"/>
                </a:solidFill>
                <a:latin typeface="Source Sans 3" pitchFamily="34" charset="0"/>
                <a:ea typeface="Source Sans 3" pitchFamily="34" charset="-122"/>
                <a:cs typeface="Source Sans 3" pitchFamily="34" charset="-120"/>
              </a:rPr>
              <a:t>Transaction validation</a:t>
            </a:r>
            <a:endParaRPr lang="en-US" sz="1350" dirty="0"/>
          </a:p>
          <a:p>
            <a:pPr algn="l" marL="342900" indent="-342900">
              <a:lnSpc>
                <a:spcPts val="2100"/>
              </a:lnSpc>
              <a:buSzPct val="100000"/>
              <a:buChar char="•"/>
            </a:pPr>
            <a:r>
              <a:rPr lang="en-US" sz="1350" dirty="0">
                <a:solidFill>
                  <a:srgbClr val="FFFFFF"/>
                </a:solidFill>
                <a:latin typeface="Source Sans 3" pitchFamily="34" charset="0"/>
                <a:ea typeface="Source Sans 3" pitchFamily="34" charset="-122"/>
                <a:cs typeface="Source Sans 3" pitchFamily="34" charset="-120"/>
              </a:rPr>
              <a:t>Performance tracking</a:t>
            </a:r>
            <a:endParaRPr lang="en-US" sz="1350" dirty="0"/>
          </a:p>
          <a:p>
            <a:pPr algn="l" marL="342900" indent="-342900">
              <a:lnSpc>
                <a:spcPts val="2100"/>
              </a:lnSpc>
              <a:buSzPct val="100000"/>
              <a:buChar char="•"/>
            </a:pPr>
            <a:r>
              <a:rPr lang="en-US" sz="1350" dirty="0">
                <a:solidFill>
                  <a:srgbClr val="FFFFFF"/>
                </a:solidFill>
                <a:latin typeface="Source Sans 3" pitchFamily="34" charset="0"/>
                <a:ea typeface="Source Sans 3" pitchFamily="34" charset="-122"/>
                <a:cs typeface="Source Sans 3" pitchFamily="34" charset="-120"/>
              </a:rPr>
              <a:t>Extensible design</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486400" cy="8229600"/>
          </a:xfrm>
          <a:prstGeom prst="rect">
            <a:avLst/>
          </a:prstGeom>
          <a:solidFill>
            <a:srgbClr val="F3EEE3"/>
          </a:solidFill>
          <a:ln/>
        </p:spPr>
      </p:sp>
      <p:pic>
        <p:nvPicPr>
          <p:cNvPr id="3" name="Image 0" descr="preencoded.png">    </p:cNvPr>
          <p:cNvPicPr>
            <a:picLocks noChangeAspect="1"/>
          </p:cNvPicPr>
          <p:nvPr/>
        </p:nvPicPr>
        <p:blipFill>
          <a:blip r:embed="rId1"/>
          <a:stretch>
            <a:fillRect/>
          </a:stretch>
        </p:blipFill>
        <p:spPr>
          <a:xfrm>
            <a:off x="89892" y="134779"/>
            <a:ext cx="5306616" cy="7959923"/>
          </a:xfrm>
          <a:prstGeom prst="rect">
            <a:avLst/>
          </a:prstGeom>
        </p:spPr>
      </p:pic>
      <p:sp>
        <p:nvSpPr>
          <p:cNvPr id="4" name="Text 1"/>
          <p:cNvSpPr/>
          <p:nvPr/>
        </p:nvSpPr>
        <p:spPr>
          <a:xfrm>
            <a:off x="6205776" y="694253"/>
            <a:ext cx="5916573" cy="562094"/>
          </a:xfrm>
          <a:prstGeom prst="rect">
            <a:avLst/>
          </a:prstGeom>
          <a:noFill/>
          <a:ln/>
        </p:spPr>
        <p:txBody>
          <a:bodyPr wrap="none" lIns="0" tIns="0" rIns="0" bIns="0" rtlCol="0" anchor="t"/>
          <a:lstStyle/>
          <a:p>
            <a:pPr algn="l" indent="0" marL="0">
              <a:lnSpc>
                <a:spcPts val="4400"/>
              </a:lnSpc>
              <a:buNone/>
            </a:pPr>
            <a:r>
              <a:rPr lang="en-US" sz="3500" dirty="0">
                <a:solidFill>
                  <a:srgbClr val="124E73"/>
                </a:solidFill>
                <a:latin typeface="MuseoModerno Medium" pitchFamily="34" charset="0"/>
                <a:ea typeface="MuseoModerno Medium" pitchFamily="34" charset="-122"/>
                <a:cs typeface="MuseoModerno Medium" pitchFamily="34" charset="-120"/>
              </a:rPr>
              <a:t>Conclusion &amp; Key Learnings</a:t>
            </a:r>
            <a:endParaRPr lang="en-US" sz="3500" dirty="0"/>
          </a:p>
        </p:txBody>
      </p:sp>
      <p:sp>
        <p:nvSpPr>
          <p:cNvPr id="5" name="Text 2"/>
          <p:cNvSpPr/>
          <p:nvPr/>
        </p:nvSpPr>
        <p:spPr>
          <a:xfrm>
            <a:off x="6205776" y="1321475"/>
            <a:ext cx="2697956" cy="337185"/>
          </a:xfrm>
          <a:prstGeom prst="rect">
            <a:avLst/>
          </a:prstGeom>
          <a:noFill/>
          <a:ln/>
        </p:spPr>
        <p:txBody>
          <a:bodyPr wrap="none" lIns="0" tIns="0" rIns="0" bIns="0" rtlCol="0" anchor="t"/>
          <a:lstStyle/>
          <a:p>
            <a:pPr algn="l" indent="0" marL="0">
              <a:lnSpc>
                <a:spcPts val="2650"/>
              </a:lnSpc>
              <a:buNone/>
            </a:pPr>
            <a:r>
              <a:rPr lang="en-US" sz="2100" dirty="0">
                <a:solidFill>
                  <a:srgbClr val="124E73"/>
                </a:solidFill>
                <a:latin typeface="MuseoModerno Medium" pitchFamily="34" charset="0"/>
                <a:ea typeface="MuseoModerno Medium" pitchFamily="34" charset="-122"/>
                <a:cs typeface="MuseoModerno Medium" pitchFamily="34" charset="-120"/>
              </a:rPr>
              <a:t>Project Success</a:t>
            </a:r>
            <a:endParaRPr lang="en-US" sz="2100" dirty="0"/>
          </a:p>
        </p:txBody>
      </p:sp>
      <p:sp>
        <p:nvSpPr>
          <p:cNvPr id="6" name="Text 3"/>
          <p:cNvSpPr/>
          <p:nvPr/>
        </p:nvSpPr>
        <p:spPr>
          <a:xfrm>
            <a:off x="6205776" y="1903095"/>
            <a:ext cx="7705249" cy="822960"/>
          </a:xfrm>
          <a:prstGeom prst="rect">
            <a:avLst/>
          </a:prstGeom>
          <a:noFill/>
          <a:ln/>
        </p:spPr>
        <p:txBody>
          <a:bodyPr wrap="square" lIns="0" tIns="0" rIns="0" bIns="0" rtlCol="0" anchor="t"/>
          <a:lstStyle/>
          <a:p>
            <a:pPr algn="l" indent="0" marL="0">
              <a:lnSpc>
                <a:spcPts val="2150"/>
              </a:lnSpc>
              <a:buNone/>
            </a:pPr>
            <a:r>
              <a:rPr lang="en-US" sz="1400" dirty="0">
                <a:solidFill>
                  <a:srgbClr val="2B4150"/>
                </a:solidFill>
                <a:latin typeface="Source Sans 3" pitchFamily="34" charset="0"/>
                <a:ea typeface="Source Sans 3" pitchFamily="34" charset="-122"/>
                <a:cs typeface="Source Sans 3" pitchFamily="34" charset="-120"/>
              </a:rPr>
              <a:t>This implementation successfully demonstrates practical application of object-oriented programming principles and design patterns in a real-world financial simulation. The system provides a complete portfolio management solution while showcasing proper software engineering practices.</a:t>
            </a:r>
            <a:endParaRPr lang="en-US" sz="1400" dirty="0"/>
          </a:p>
        </p:txBody>
      </p:sp>
      <p:sp>
        <p:nvSpPr>
          <p:cNvPr id="7" name="Shape 4"/>
          <p:cNvSpPr/>
          <p:nvPr/>
        </p:nvSpPr>
        <p:spPr>
          <a:xfrm>
            <a:off x="6205776" y="2909411"/>
            <a:ext cx="404693" cy="404693"/>
          </a:xfrm>
          <a:prstGeom prst="roundRect">
            <a:avLst>
              <a:gd name="adj" fmla="val 6667"/>
            </a:avLst>
          </a:prstGeom>
          <a:solidFill>
            <a:srgbClr val="F3EEE3"/>
          </a:solidFill>
          <a:ln/>
        </p:spPr>
      </p:sp>
      <p:sp>
        <p:nvSpPr>
          <p:cNvPr id="8" name="Text 5"/>
          <p:cNvSpPr/>
          <p:nvPr/>
        </p:nvSpPr>
        <p:spPr>
          <a:xfrm>
            <a:off x="6773466" y="2971205"/>
            <a:ext cx="2613898" cy="280988"/>
          </a:xfrm>
          <a:prstGeom prst="rect">
            <a:avLst/>
          </a:prstGeom>
          <a:noFill/>
          <a:ln/>
        </p:spPr>
        <p:txBody>
          <a:bodyPr wrap="none" lIns="0" tIns="0" rIns="0" bIns="0" rtlCol="0" anchor="t"/>
          <a:lstStyle/>
          <a:p>
            <a:pPr algn="l" indent="0" marL="0">
              <a:lnSpc>
                <a:spcPts val="2200"/>
              </a:lnSpc>
              <a:buNone/>
            </a:pPr>
            <a:r>
              <a:rPr lang="en-US" sz="1750" dirty="0">
                <a:solidFill>
                  <a:srgbClr val="2B4150"/>
                </a:solidFill>
                <a:latin typeface="MuseoModerno Medium" pitchFamily="34" charset="0"/>
                <a:ea typeface="MuseoModerno Medium" pitchFamily="34" charset="-122"/>
                <a:cs typeface="MuseoModerno Medium" pitchFamily="34" charset="-120"/>
              </a:rPr>
              <a:t>Design Pattern Mastery</a:t>
            </a:r>
            <a:endParaRPr lang="en-US" sz="1750" dirty="0"/>
          </a:p>
        </p:txBody>
      </p:sp>
      <p:sp>
        <p:nvSpPr>
          <p:cNvPr id="9" name="Text 6"/>
          <p:cNvSpPr/>
          <p:nvPr/>
        </p:nvSpPr>
        <p:spPr>
          <a:xfrm>
            <a:off x="6773466" y="3349943"/>
            <a:ext cx="7137559" cy="548640"/>
          </a:xfrm>
          <a:prstGeom prst="rect">
            <a:avLst/>
          </a:prstGeom>
          <a:noFill/>
          <a:ln/>
        </p:spPr>
        <p:txBody>
          <a:bodyPr wrap="square" lIns="0" tIns="0" rIns="0" bIns="0" rtlCol="0" anchor="t"/>
          <a:lstStyle/>
          <a:p>
            <a:pPr algn="l" indent="0" marL="0">
              <a:lnSpc>
                <a:spcPts val="2150"/>
              </a:lnSpc>
              <a:buNone/>
            </a:pPr>
            <a:r>
              <a:rPr lang="en-US" sz="1400" dirty="0">
                <a:solidFill>
                  <a:srgbClr val="2B4150"/>
                </a:solidFill>
                <a:latin typeface="Source Sans 3" pitchFamily="34" charset="0"/>
                <a:ea typeface="Source Sans 3" pitchFamily="34" charset="-122"/>
                <a:cs typeface="Source Sans 3" pitchFamily="34" charset="-120"/>
              </a:rPr>
              <a:t>Implemented Singleton for global market state and Strategy pattern for flexible report generation</a:t>
            </a:r>
            <a:endParaRPr lang="en-US" sz="1400" dirty="0"/>
          </a:p>
        </p:txBody>
      </p:sp>
      <p:sp>
        <p:nvSpPr>
          <p:cNvPr id="10" name="Shape 7"/>
          <p:cNvSpPr/>
          <p:nvPr/>
        </p:nvSpPr>
        <p:spPr>
          <a:xfrm>
            <a:off x="6205776" y="4224576"/>
            <a:ext cx="404693" cy="404693"/>
          </a:xfrm>
          <a:prstGeom prst="roundRect">
            <a:avLst>
              <a:gd name="adj" fmla="val 6667"/>
            </a:avLst>
          </a:prstGeom>
          <a:solidFill>
            <a:srgbClr val="F3EEE3"/>
          </a:solidFill>
          <a:ln/>
        </p:spPr>
      </p:sp>
      <p:sp>
        <p:nvSpPr>
          <p:cNvPr id="11" name="Text 8"/>
          <p:cNvSpPr/>
          <p:nvPr/>
        </p:nvSpPr>
        <p:spPr>
          <a:xfrm>
            <a:off x="6773466" y="4286369"/>
            <a:ext cx="2262545" cy="280988"/>
          </a:xfrm>
          <a:prstGeom prst="rect">
            <a:avLst/>
          </a:prstGeom>
          <a:noFill/>
          <a:ln/>
        </p:spPr>
        <p:txBody>
          <a:bodyPr wrap="none" lIns="0" tIns="0" rIns="0" bIns="0" rtlCol="0" anchor="t"/>
          <a:lstStyle/>
          <a:p>
            <a:pPr algn="l" indent="0" marL="0">
              <a:lnSpc>
                <a:spcPts val="2200"/>
              </a:lnSpc>
              <a:buNone/>
            </a:pPr>
            <a:r>
              <a:rPr lang="en-US" sz="1750" dirty="0">
                <a:solidFill>
                  <a:srgbClr val="2B4150"/>
                </a:solidFill>
                <a:latin typeface="MuseoModerno Medium" pitchFamily="34" charset="0"/>
                <a:ea typeface="MuseoModerno Medium" pitchFamily="34" charset="-122"/>
                <a:cs typeface="MuseoModerno Medium" pitchFamily="34" charset="-120"/>
              </a:rPr>
              <a:t>System Design Skills</a:t>
            </a:r>
            <a:endParaRPr lang="en-US" sz="1750" dirty="0"/>
          </a:p>
        </p:txBody>
      </p:sp>
      <p:sp>
        <p:nvSpPr>
          <p:cNvPr id="12" name="Text 9"/>
          <p:cNvSpPr/>
          <p:nvPr/>
        </p:nvSpPr>
        <p:spPr>
          <a:xfrm>
            <a:off x="6773466" y="4665107"/>
            <a:ext cx="7137559" cy="548640"/>
          </a:xfrm>
          <a:prstGeom prst="rect">
            <a:avLst/>
          </a:prstGeom>
          <a:noFill/>
          <a:ln/>
        </p:spPr>
        <p:txBody>
          <a:bodyPr wrap="square" lIns="0" tIns="0" rIns="0" bIns="0" rtlCol="0" anchor="t"/>
          <a:lstStyle/>
          <a:p>
            <a:pPr algn="l" indent="0" marL="0">
              <a:lnSpc>
                <a:spcPts val="2150"/>
              </a:lnSpc>
              <a:buNone/>
            </a:pPr>
            <a:r>
              <a:rPr lang="en-US" sz="1400" dirty="0">
                <a:solidFill>
                  <a:srgbClr val="2B4150"/>
                </a:solidFill>
                <a:latin typeface="Source Sans 3" pitchFamily="34" charset="0"/>
                <a:ea typeface="Source Sans 3" pitchFamily="34" charset="-122"/>
                <a:cs typeface="Source Sans 3" pitchFamily="34" charset="-120"/>
              </a:rPr>
              <a:t>Developed comprehensive understanding of class relationships, dependency management, and architectural patterns</a:t>
            </a:r>
            <a:endParaRPr lang="en-US" sz="1400" dirty="0"/>
          </a:p>
        </p:txBody>
      </p:sp>
      <p:sp>
        <p:nvSpPr>
          <p:cNvPr id="13" name="Shape 10"/>
          <p:cNvSpPr/>
          <p:nvPr/>
        </p:nvSpPr>
        <p:spPr>
          <a:xfrm>
            <a:off x="6205776" y="5539740"/>
            <a:ext cx="404693" cy="404693"/>
          </a:xfrm>
          <a:prstGeom prst="roundRect">
            <a:avLst>
              <a:gd name="adj" fmla="val 6667"/>
            </a:avLst>
          </a:prstGeom>
          <a:solidFill>
            <a:srgbClr val="F3EEE3"/>
          </a:solidFill>
          <a:ln/>
        </p:spPr>
      </p:sp>
      <p:sp>
        <p:nvSpPr>
          <p:cNvPr id="14" name="Text 11"/>
          <p:cNvSpPr/>
          <p:nvPr/>
        </p:nvSpPr>
        <p:spPr>
          <a:xfrm>
            <a:off x="6773466" y="5601533"/>
            <a:ext cx="2469356" cy="280988"/>
          </a:xfrm>
          <a:prstGeom prst="rect">
            <a:avLst/>
          </a:prstGeom>
          <a:noFill/>
          <a:ln/>
        </p:spPr>
        <p:txBody>
          <a:bodyPr wrap="none" lIns="0" tIns="0" rIns="0" bIns="0" rtlCol="0" anchor="t"/>
          <a:lstStyle/>
          <a:p>
            <a:pPr algn="l" indent="0" marL="0">
              <a:lnSpc>
                <a:spcPts val="2200"/>
              </a:lnSpc>
              <a:buNone/>
            </a:pPr>
            <a:r>
              <a:rPr lang="en-US" sz="1750" dirty="0">
                <a:solidFill>
                  <a:srgbClr val="2B4150"/>
                </a:solidFill>
                <a:latin typeface="MuseoModerno Medium" pitchFamily="34" charset="0"/>
                <a:ea typeface="MuseoModerno Medium" pitchFamily="34" charset="-122"/>
                <a:cs typeface="MuseoModerno Medium" pitchFamily="34" charset="-120"/>
              </a:rPr>
              <a:t>Real-World Simulation</a:t>
            </a:r>
            <a:endParaRPr lang="en-US" sz="1750" dirty="0"/>
          </a:p>
        </p:txBody>
      </p:sp>
      <p:sp>
        <p:nvSpPr>
          <p:cNvPr id="15" name="Text 12"/>
          <p:cNvSpPr/>
          <p:nvPr/>
        </p:nvSpPr>
        <p:spPr>
          <a:xfrm>
            <a:off x="6773466" y="5980271"/>
            <a:ext cx="7137559" cy="548640"/>
          </a:xfrm>
          <a:prstGeom prst="rect">
            <a:avLst/>
          </a:prstGeom>
          <a:noFill/>
          <a:ln/>
        </p:spPr>
        <p:txBody>
          <a:bodyPr wrap="square" lIns="0" tIns="0" rIns="0" bIns="0" rtlCol="0" anchor="t"/>
          <a:lstStyle/>
          <a:p>
            <a:pPr algn="l" indent="0" marL="0">
              <a:lnSpc>
                <a:spcPts val="2150"/>
              </a:lnSpc>
              <a:buNone/>
            </a:pPr>
            <a:r>
              <a:rPr lang="en-US" sz="1400" dirty="0">
                <a:solidFill>
                  <a:srgbClr val="2B4150"/>
                </a:solidFill>
                <a:latin typeface="Source Sans 3" pitchFamily="34" charset="0"/>
                <a:ea typeface="Source Sans 3" pitchFamily="34" charset="-122"/>
                <a:cs typeface="Source Sans 3" pitchFamily="34" charset="-120"/>
              </a:rPr>
              <a:t>Created realistic stock trading environment with price volatility, transaction processing, and portfolio tracking</a:t>
            </a:r>
            <a:endParaRPr lang="en-US" sz="1400" dirty="0"/>
          </a:p>
        </p:txBody>
      </p:sp>
      <p:sp>
        <p:nvSpPr>
          <p:cNvPr id="16" name="Text 13"/>
          <p:cNvSpPr/>
          <p:nvPr/>
        </p:nvSpPr>
        <p:spPr>
          <a:xfrm>
            <a:off x="6205776" y="6712268"/>
            <a:ext cx="7705249" cy="822960"/>
          </a:xfrm>
          <a:prstGeom prst="rect">
            <a:avLst/>
          </a:prstGeom>
          <a:noFill/>
          <a:ln/>
        </p:spPr>
        <p:txBody>
          <a:bodyPr wrap="square" lIns="0" tIns="0" rIns="0" bIns="0" rtlCol="0" anchor="t"/>
          <a:lstStyle/>
          <a:p>
            <a:pPr algn="l" indent="0" marL="0">
              <a:lnSpc>
                <a:spcPts val="2150"/>
              </a:lnSpc>
              <a:buNone/>
            </a:pPr>
            <a:r>
              <a:rPr lang="en-US" sz="1400" b="1" dirty="0">
                <a:solidFill>
                  <a:srgbClr val="325F7B"/>
                </a:solidFill>
                <a:latin typeface="Source Sans 3" pitchFamily="34" charset="0"/>
                <a:ea typeface="Source Sans 3" pitchFamily="34" charset="-122"/>
                <a:cs typeface="Source Sans 3" pitchFamily="34" charset="-120"/>
              </a:rPr>
              <a:t>Future Enhancements:</a:t>
            </a:r>
            <a:pPr algn="l" indent="0" marL="0">
              <a:lnSpc>
                <a:spcPts val="2150"/>
              </a:lnSpc>
              <a:buNone/>
            </a:pPr>
            <a:r>
              <a:rPr lang="en-US" sz="1400" dirty="0">
                <a:solidFill>
                  <a:srgbClr val="2B4150"/>
                </a:solidFill>
                <a:latin typeface="Source Sans 3" pitchFamily="34" charset="0"/>
                <a:ea typeface="Source Sans 3" pitchFamily="34" charset="-122"/>
                <a:cs typeface="Source Sans 3" pitchFamily="34" charset="-120"/>
              </a:rPr>
              <a:t> Integration with real market data APIs, graphical user interface development, multi-user support with authentication, and advanced analytical features including risk assessment and portfolio optimization.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2026-04-20T05:00:02Z</dcterms:created>
  <dcterms:modified xsi:type="dcterms:W3CDTF">2026-04-20T05:00:02Z</dcterms:modified>
</cp:coreProperties>
</file>